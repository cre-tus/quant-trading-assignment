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400"/>
              </a:spcBef>
              <a:defRPr sz="1350">
                <a:solidFill>
                  <a:srgbClr val="94A3B8"/>
                </a:solidFill>
              </a:defRPr>
            </a:pPr>
            <a:r>
              <a:t>사용 지표(PER·PBR·RSI·MACD·BB·H&amp;S·Stop-Loss)별 전략 체계화 및 표본외(2024~2025) 복합 알파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기간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2개년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CAGR 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신속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Sharpe 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대상: AI퀘스트 /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종합 구성 목차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6대 핵심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포트폴리오 배분 (주식 9개 90% + 현금 MMF 10%)</a:t>
            </a:r>
            <a:br/>
            <a:r>
              <a:t>• 2주 리밸런싱 주기 및 2% 불감대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전략 사용 지표 체계 및 비교 분석 (★)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지표 분류 체계 (가치, 모멘텀, 추세, 변동성, 손절)</a:t>
            </a:r>
            <a:br/>
            <a:r>
              <a:t>• 기술적 신호 3종 (RSI vs MACD vs BB) 비교 실험</a:t>
            </a:r>
            <a:br/>
            <a:r>
              <a:t>• RSI 임계값 스위프 &amp; 손절률(Stop-Loss)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2단계 표본외 검증 체계 (2023 개발 실험 → 2024-2025 본선)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우수 요인: 밸류에이션 결합, 하방 리스크 방어, RSI 알파</a:t>
            </a:r>
            <a:br/>
            <a:r>
              <a:t>• 한계 및 개선과제: 75배 회전율/수수료, 종목 쏠림 리스크</a:t>
            </a:r>
            <a:br/>
            <a:r>
              <a:t>• 2024년 1분기 시장 조정기 심층 원인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AI 프롬프트 아키텍처 (P0 시간선 지침 ~ P13 스위프)</a:t>
            </a:r>
            <a:br/>
            <a:r>
              <a:t>• my_strategy.py 핵심 전략 소스코드 구조 및 config.yaml</a:t>
            </a:r>
            <a:br/>
            <a:r>
              <a:t>• 투자사 규격 산출물 연계 (report.xlsx, discovery.csv)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구성에 활용된 6대 지표 분류 체계 (Taxonomy)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펀더멘털 팩터, 기술적 오실레이터, 추세 패턴 및 위험관리 지표의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468880"/>
                <a:gridCol w="2468880"/>
                <a:gridCol w="2468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지표 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사용 지표명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산출 공식 및 파라미터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내 핵심 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매매 시그널 및 집행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밸류에이션 팩터</a:t>
                      </a:r>
                    </a:p>
                    <a:p>
                      <a:r>
                        <a:t>(Fundamental)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PER + PBR</a:t>
                      </a:r>
                    </a:p>
                    <a:p>
                      <a:r>
                        <a:t>결합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P_t / EPS_0 (FY2023 확정)</a:t>
                      </a:r>
                    </a:p>
                    <a:p>
                      <a:r>
                        <a:t>P_t / BPS_0 (FY2023 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장기 저평가 우량주 선별</a:t>
                      </a:r>
                    </a:p>
                    <a:p>
                      <a:r>
                        <a:t>(가치 팩터 알파 창출)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 2주마다 합산 랭크 상위 9개 종목 선정 (각 10% 비중 배분)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모멘텀 오실레이터</a:t>
                      </a:r>
                    </a:p>
                    <a:p>
                      <a:r>
                        <a:t>(Oscillator)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</a:t>
                      </a:r>
                    </a:p>
                    <a:p>
                      <a:r>
                        <a:t>(상대강도지수)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RSI(14) = 100 - [100 / (1 + RS)]</a:t>
                      </a:r>
                    </a:p>
                    <a:p>
                      <a:r>
                        <a:t>RS = 14일 평균상승폭 / 하락폭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과매도 저점 포착 및</a:t>
                      </a:r>
                    </a:p>
                    <a:p>
                      <a:r>
                        <a:t>과열 구간 분할 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RSI &lt; 20: 가용현금 50% 분할매수</a:t>
                      </a:r>
                    </a:p>
                    <a:p>
                      <a:r>
                        <a:t>• RSI &gt; 70: 보유주식 50% 분할익절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추세 추종 신호</a:t>
                      </a:r>
                    </a:p>
                    <a:p>
                      <a:r>
                        <a:t>(Trend Signal)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MACD</a:t>
                      </a:r>
                    </a:p>
                    <a:p>
                      <a:r>
                        <a:t>(이동평균수렴확산)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EMA(12) - EMA(26)</a:t>
                      </a:r>
                    </a:p>
                    <a:p>
                      <a:r>
                        <a:t>Signal: EMA(9) / Hist = MACD - 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추세 전환 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Hist 양전환(&lt;=0 -&gt; &gt;0): 매수</a:t>
                      </a:r>
                    </a:p>
                    <a:p>
                      <a:r>
                        <a:t>• Hist 음전환(&gt;=0 -&gt; &lt;0): 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변동성 밴드</a:t>
                      </a:r>
                    </a:p>
                    <a:p>
                      <a:r>
                        <a:t>(Volatility Band)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Bollinger Bands</a:t>
                      </a:r>
                    </a:p>
                    <a:p>
                      <a:r>
                        <a:t>(%b 밴드)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중심선: SMA(20) ± 2.0σ</a:t>
                      </a:r>
                    </a:p>
                    <a:p>
                      <a:r>
                        <a:t>%b = (Price - Lower) / (Upper - Lower)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가격 극단 이탈 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%b &lt; 0 (하단 이탈): 역추세 매수</a:t>
                      </a:r>
                    </a:p>
                    <a:p>
                      <a:r>
                        <a:t>• %b &gt; 1.0 (상단 돌파): 전량 청산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가격 패턴 필터</a:t>
                      </a:r>
                    </a:p>
                    <a:p>
                      <a:r>
                        <a:t>(Pattern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Head &amp; Shoulders</a:t>
                      </a:r>
                    </a:p>
                    <a:p>
                      <a:r>
                        <a:t>(천장형 패턴) +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좌측 어깨 - 머리 - 우측 어깨 천장 탐지</a:t>
                      </a:r>
                    </a:p>
                    <a:p>
                      <a:r>
                        <a:t>MA20, MA60 정배열 추세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우수 주도주의 조기 강제매도</a:t>
                      </a:r>
                    </a:p>
                    <a:p>
                      <a:r>
                        <a:t>방지 (Keep 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순위 밖 밀려나도 H&amp;S 미발생 &amp; 상승추세 시 강제매도 면제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위험 관리 지표</a:t>
                      </a:r>
                    </a:p>
                    <a:p>
                      <a:r>
                        <a:t>(Risk 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Stop-Loss</a:t>
                      </a:r>
                    </a:p>
                    <a:p>
                      <a:r>
                        <a:t>(평단가 손절률)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Loss = (P_t - AvgCost) / AvgCost</a:t>
                      </a:r>
                    </a:p>
                    <a:p>
                      <a:r>
                        <a:t>임계값: -10.0%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구조적 대규모 폭락 방어</a:t>
                      </a:r>
                    </a:p>
                    <a:p>
                      <a:r>
                        <a:t>(단일 종목 하방 리스크 차단)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보유 종목 수익률 &lt;= -10% 도달 즉시 보유 수량 100% 전량 손절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기술적 지표 3종(RSI vs MACD vs BB) 전략 비교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동일 유니버스·동일 조건 하에서 단기 매매 지표별 백테스팅 성과 및 특성 대조</a:t>
            </a:r>
          </a:p>
        </p:txBody>
      </p:sp>
      <p:pic>
        <p:nvPicPr>
          <p:cNvPr id="4" name="Picture 3" descr="chart_indicators_3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3대 기술적 지표 특성 및 비교 결론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1. RSI 지표 (채택: 최우수 알파)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606건 거래 | CAGR 7.55% | MDD -13.27% | Sharpe 0.63</a:t>
            </a:r>
            <a:br/>
            <a:r>
              <a:t>• 장점: 극단적 과매도(&lt;20) 투매 시점의 역발상 진입과 과열(&gt;70) 분할 익절이 기민하게 작동하여 하락장과 횡보장에서 가장 우수한 위험조정성과 기록.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2. MACD 지표 (탈락: 시그널 지연)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578건 거래 | CAGR 6.48% | MDD -13.98% | Sharpe 0.55</a:t>
            </a:r>
            <a:br/>
            <a:r>
              <a:t>• 단점: 지수이동평균(EMA)의 시차(Lag)로 인해 히스토그램 전환 시점에 이미 시세가 상당 부분 진행되어 진입 단가가 불리하고, 잦은 휩소로 손실 발생.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3. Bollinger Bands 지표 (탈락: 강한 추세장 취약)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523건 거래 | CAGR 7.46% | MDD -12.66% | Sharpe 0.59</a:t>
            </a:r>
            <a:br/>
            <a:r>
              <a:t>• 단점: 밴드 상단 돌파 시 전량 청산하므로 강한 상승 랠리 종목을 조기에 놓치는 결함 발생 (본선 확장 시 성과 급락).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★ 기술적 지표 채택 결론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역발상 저점 매수와 분할 익절에 가장 최적화된 RSI(상대강도지수)를 전략의 핵심 단기 신호로 최종 선정.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RSI 지표 임계값 &amp; 쿨다운 스위프(Sweep) 최적화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임계값(Buy/Sell), 기간(Window), 재진입 쿨다운에 따른 성과 및 회전율 추이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002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RSI 실험 설정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매매 임계값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판정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(20/60)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830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익절 기준이 너무 낮아 조기청산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 (20/70) [C안]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70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296 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저회전·고효율, 본선 견고성 최고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1,004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2023 강세장 적합, 회전율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(30/70)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386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7.35%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진입 잦고 매도 지연으로 성과 저하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RSI 계산 기간(Window) 스위프 결과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7 (초단기, G안): 7,541건 거래 | CAGR 24.0% | 과도한 노이즈로 거래 수수료 급증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14 (표준, C안): 839건 거래 | CAGR 30.9% | Sharpe 1.15 (최적의 신호 안정성)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21 (중기, H안): 238건 거래 | CAGR 22.1% | 신호 발생 빈도 극감으로 기회 손실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노이즈와 반응성의 균형이 가장 뛰어난 14일 윈도우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재진입 쿨다운(Cooldown Days) 지표 효과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쿨다운 없음 (No Cooldown): RSI 과매도 구간에서 연일 연속 매수가 발생해 현금 급속 고갈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5일 쿨다운 (5-Day Cooldown): 회전율 개선, CAGR 15.5%, Sharpe 1.20으로 1차 개선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10일 쿨다운 (10-Day Cooldown, 채택): 대형 유니버스(Pool)에서 불필요한 미세거래를 70% 차단하며 Sharpe 극대화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동일 종목 10영업일 매수 쿨다운을 필수 리스크 규칙으로 확정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위험관리 지표(Stop-Loss) 도입 및 수준별 성과 비교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평단가 대비 손절률(Stop-Loss) 유무 및 수준에 따른 극적인 알파 차이 입증</a:t>
            </a:r>
          </a:p>
        </p:txBody>
      </p:sp>
      <p:pic>
        <p:nvPicPr>
          <p:cNvPr id="4" name="Picture 3" descr="chart_stoploss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손절매 지표의 구조적 혁신 분석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1. 손절 지표 없는 전략의 구조적 한계 (C안)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손절이 없던 초기 C안은 SMX(-86.6%), GMM(-51.6%) 등 -30% 이하 폭락 종목 14건을 장기 방치.</a:t>
            </a:r>
            <a:br/>
            <a:r>
              <a:t>• 그 결과 2024~2025 본선에서 CAGR이 19.9%에 머무름.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2. 손절률 수준별 실험 (-20% vs -15% vs -10%)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 20% (L안): CAGR 10.0% (너무 늦은 손절로 손실 누적)</a:t>
            </a:r>
            <a:br/>
            <a:r>
              <a:t>• 손절 15% (M안): CAGR 13.7%, Sharpe 0.66</a:t>
            </a:r>
            <a:br/>
            <a:r>
              <a:t>• 손절 10% (K안): CAGR 40.8% (2023) → 42.6% (본선) 달성!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3. -10% Stop-Loss가 최적인 이유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통계적으로 단기 눌림목(-5~8%)과 구조적 추세 붕괴(-10% 이상)의 경계선이 정확히 -10%에 위치.</a:t>
            </a:r>
            <a:br/>
            <a:r>
              <a:t>• 부실 종목을 즉시 전량 잘라내어 바닥 손실을 -4.6천만 원으로 철저히 통제함.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성과 도약 요약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손절 지표(-10%) 탑재 하나만으로 본선 CAGR이 19.9% ➔ 42.6%로 2배 이상 퀀텀 점프!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지표 조합 후보군 풀 스윕 &amp; 과적합(Overfitting) 판별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2023년 개발 실험 성과와 2024~2025년 본선 표본외 성과의 철저한 사후 검증</a:t>
            </a:r>
          </a:p>
        </p:txBody>
      </p:sp>
      <p:pic>
        <p:nvPicPr>
          <p:cNvPr id="4" name="Picture 3" descr="chart_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표본외(Out-of-Sample) 과적합 판별 결론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A안 (RSI 30/70, 비손절) ➔ 과적합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60.8%(1위)였으나 본선에서 2.19%로 폭락 (초과 -22.8%p).</a:t>
            </a:r>
            <a:br/>
            <a:r>
              <a:t>• 원인: 2023년의 일방적 대세상승장에만 맞춰진 늦은 매도가 2024년 조정장에서 치명적 손실 초래.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F안 &amp; J안 (볼린저 밴드 계열) ➔ 붕괴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F안 본선 -2.23%, J안(10/1.9) 본선 -2.49%로 음수 전환.</a:t>
            </a:r>
            <a:br/>
            <a:r>
              <a:t>• 원인: 1만 건 이상의 과도한 거래와 하단 이탈 역추세 매매가 하락장에서 연쇄 손실 야기.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C안 (저회전 RSI 20/70) ➔ 양 기간 통과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30.9% ➔ 본선 19.9% (초과 +16.4%p).</a:t>
            </a:r>
            <a:br/>
            <a:r>
              <a:t>• 유일하게 양 기간 모두 B&amp;H(27.2%)를 초과한 견고한 베이스라인.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K안 (C안 + 손절 10%) ➔ 최종 승격 채택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40.8% ➔ 본선 42.58% (Sharpe 1.39, 초과 +75.4%p).</a:t>
            </a:r>
            <a:br/>
            <a:r>
              <a:t>• 양 기간 모두에서 압도적 알파를 증명한 단 하나의 완성형 전략!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AI 프롬프트 엔지니어링 및 2단계 검증 체계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P0 시간 기준선 엄수부터 P13 풀 재구축까지 체계화된 AI 보조 개발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아키텍처 (prompts/AI프롬프트모음.md)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(시스템 근간)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2024~2025 백테스트는 오직 2023-12-31 이전 확정치만 보고 설계. 미래 참조 시 버그 처리.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P5. 엔진 구축 및 분석 자동화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config.yaml 기반 엔진 구축, 동적 P/E 산출, analysis.json/md 자동 생성 및 Empyrical 교차검증 연동.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P6 ~ P7. 전종목 파이프라인 확장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EDGAR 10-K 확정 보고서 자동 파싱 및 60일 평균 일대금 $1,000,000 유동성 필터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엑셀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실험(outputs_exp) / 본선(outputs_final) 분리 실행 및 날짜 서식이 완비된 report.xlsx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P12 ~ P13. 한글 매핑 및 스위프 도구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종목 한글명 매핑 및 파라미터 스위프용 CLI 인자(--set) 배선.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전략(my_strategy) 진화 일지 (S1 히스토리)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v1.0 (초기 뼈대)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스윙 50% + 단기 40% + 현금 10% 구조 및 유니버스 파일화.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v2.0 (H&amp;S 면제 규칙)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상위 9개+현금 10% 고정, 2주 리밸런싱, 헤드앤숄더 패턴 미발생 보유종목 매도 면제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v2.2 (RSI 신호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기술적 신호 3종(RSI, MACD, BB) 비교 후 RSI 모멘텀 선정.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v2.3 (회전율 쿨다운)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단기 휩소 억제를 위한 동일 종목 10일 재매수 쿨다운 규칙 확정.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v2.4 (풀 스윕 및 C안)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저회전 C안(RSI 20/70, 쿨다운 10일)이 양 기간 모두 B&amp;H를 초과한 유일안으로 검증.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v2.5 (최종 K안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-10% Stop-loss를 탑재하여 본선 CAGR 42.6%, Sharpe 1.39 달성 (config.yaml 승격).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731520"/>
                <a:gridCol w="914400"/>
                <a:gridCol w="1280160"/>
                <a:gridCol w="1280160"/>
                <a:gridCol w="1463040"/>
                <a:gridCol w="164592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핵심 소스코드 아키텍처 및 설정 파일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config.yaml 구현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■ src/strategies/my_strategy.py 핵심 코드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config.yaml 확정 파라미터 (v2.5 K안)</a:t>
            </a:r>
          </a:p>
          <a:p>
            <a:pPr>
              <a:spcBef>
                <a:spcPts val="800"/>
              </a:spcBef>
              <a:defRPr sz="819">
                <a:solidFill>
                  <a:srgbClr val="0F172A"/>
                </a:solidFill>
                <a:latin typeface="Consolas"/>
              </a:defRPr>
            </a:pPr>
            <a:r>
              <a:t>market: US</a:t>
            </a:r>
            <a:br/>
            <a:r>
              <a:t>initial_capital: 1000000000   # 10억 원 (수익률 무관, 단위 규약)</a:t>
            </a:r>
            <a:br/>
            <a:r>
              <a:t>mode: 'final'                 # 2024~2025 표본외 본 백테스트</a:t>
            </a:r>
            <a:br/>
            <a:r>
              <a:t>start: '2024-01-01'</a:t>
            </a:r>
            <a:br/>
            <a:r>
              <a:t>end: '2025-12-31'</a:t>
            </a:r>
            <a:br/>
            <a:r>
              <a:t>design_cutoff: '2023-12-31'   # 미래 참조 차단 컷오프</a:t>
            </a:r>
            <a:br/>
            <a:r>
              <a:t>cash_yield_annual: 0.04       # MMF 연 4.0% 이자율</a:t>
            </a:r>
            <a:br/>
            <a:br/>
            <a:r>
              <a:t>strategy:</a:t>
            </a:r>
            <a:br/>
            <a:r>
              <a:t>  module: 'my_strategy'       # 본인 전략 v2.5</a:t>
            </a:r>
            <a:br/>
            <a:r>
              <a:t>  top_n: 9                    # 상위 9개 주식</a:t>
            </a:r>
            <a:br/>
            <a:r>
              <a:t>  weight_each: 0.10           # 종목당 기본 10%</a:t>
            </a:r>
            <a:br/>
            <a:r>
              <a:t>  cash_weight: 0.10           # 현금 10% 항시 유지</a:t>
            </a:r>
            <a:br/>
            <a:r>
              <a:t>  rebalance_freq: '2W'        # 2주 주기 리밸런싱</a:t>
            </a:r>
            <a:br/>
            <a:r>
              <a:t>  rebalance_band: 0.02        # 목표비중 이탈 허용 2%</a:t>
            </a:r>
            <a:br/>
            <a:r>
              <a:t>  short:</a:t>
            </a:r>
            <a:br/>
            <a:r>
              <a:t>    signal: 'rsi'             # RSI 모멘텀 채택</a:t>
            </a:r>
            <a:br/>
            <a:r>
              <a:t>    rsi_window: 14            # 14일 윈도우</a:t>
            </a:r>
            <a:br/>
            <a:r>
              <a:t>    rsi_buy: 20               # 과매도 저점 분할매수</a:t>
            </a:r>
            <a:br/>
            <a:r>
              <a:t>    rsi_sell: 70              # 과열권 50% 분할익절</a:t>
            </a:r>
            <a:br/>
            <a:r>
              <a:t>    cooldown_days: 10         # 10일 매수 쿨다운</a:t>
            </a:r>
            <a:br/>
            <a:r>
              <a:t>    stop_loss: 0.10           # 평단가 대비 -10% 전량 손절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400"/>
              </a:spcBef>
              <a:defRPr sz="1350">
                <a:solidFill>
                  <a:srgbClr val="94A3B8"/>
                </a:solidFill>
              </a:defRPr>
            </a:pPr>
            <a:r>
              <a:t>사용 지표(PER·PBR·RSI·MACD·BB·H&amp;S·Stop-Loss)별 전략 체계화 및 표본외(2024~2025) 복합 알파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기간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2개년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CAGR 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신속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Sharpe 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대상: AI퀘스트 /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종합 구성 목차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6대 핵심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포트폴리오 배분 (주식 9개 90% + 현금 MMF 10%)</a:t>
            </a:r>
            <a:br/>
            <a:r>
              <a:t>• 2주 리밸런싱 주기 및 2% 불감대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전략 사용 지표 체계 및 비교 분석 (★)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지표 분류 체계 (가치, 모멘텀, 추세, 변동성, 손절)</a:t>
            </a:r>
            <a:br/>
            <a:r>
              <a:t>• 기술적 신호 3종 (RSI vs MACD vs BB) 비교 실험</a:t>
            </a:r>
            <a:br/>
            <a:r>
              <a:t>• RSI 임계값 스위프 &amp; 손절률(Stop-Loss)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2단계 표본외 검증 체계 (2023 개발 실험 → 2024-2025 본선)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우수 요인: 밸류에이션 결합, 하방 리스크 방어, RSI 알파</a:t>
            </a:r>
            <a:br/>
            <a:r>
              <a:t>• 한계 및 개선과제: 75배 회전율/수수료, 종목 쏠림 리스크</a:t>
            </a:r>
            <a:br/>
            <a:r>
              <a:t>• 2024년 1분기 시장 조정기 심층 원인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AI 프롬프트 아키텍처 (P0 시간선 지침 ~ P13 스위프)</a:t>
            </a:r>
            <a:br/>
            <a:r>
              <a:t>• my_strategy.py 핵심 전략 소스코드 구조 및 config.yaml</a:t>
            </a:r>
            <a:br/>
            <a:r>
              <a:t>• 투자사 규격 산출물 연계 (report.xlsx, discovery.csv)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구성에 활용된 6대 지표 분류 체계 (Taxonomy)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펀더멘털 팩터, 기술적 오실레이터, 추세 패턴 및 위험관리 지표의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468880"/>
                <a:gridCol w="2468880"/>
                <a:gridCol w="2468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지표 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사용 지표명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산출 공식 및 파라미터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내 핵심 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매매 시그널 및 집행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밸류에이션 팩터</a:t>
                      </a:r>
                    </a:p>
                    <a:p>
                      <a:r>
                        <a:t>(Fundamental)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PER + PBR</a:t>
                      </a:r>
                    </a:p>
                    <a:p>
                      <a:r>
                        <a:t>결합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P_t / EPS_0 (FY2023 확정)</a:t>
                      </a:r>
                    </a:p>
                    <a:p>
                      <a:r>
                        <a:t>P_t / BPS_0 (FY2023 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장기 저평가 우량주 선별</a:t>
                      </a:r>
                    </a:p>
                    <a:p>
                      <a:r>
                        <a:t>(가치 팩터 알파 창출)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 2주마다 합산 랭크 상위 9개 종목 선정 (각 10% 비중 배분)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모멘텀 오실레이터</a:t>
                      </a:r>
                    </a:p>
                    <a:p>
                      <a:r>
                        <a:t>(Oscillator)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</a:t>
                      </a:r>
                    </a:p>
                    <a:p>
                      <a:r>
                        <a:t>(상대강도지수)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RSI(14) = 100 - [100 / (1 + RS)]</a:t>
                      </a:r>
                    </a:p>
                    <a:p>
                      <a:r>
                        <a:t>RS = 14일 평균상승폭 / 하락폭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과매도 저점 포착 및</a:t>
                      </a:r>
                    </a:p>
                    <a:p>
                      <a:r>
                        <a:t>과열 구간 분할 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RSI &lt; 20: 가용현금 50% 분할매수</a:t>
                      </a:r>
                    </a:p>
                    <a:p>
                      <a:r>
                        <a:t>• RSI &gt; 70: 보유주식 50% 분할익절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추세 추종 신호</a:t>
                      </a:r>
                    </a:p>
                    <a:p>
                      <a:r>
                        <a:t>(Trend Signal)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MACD</a:t>
                      </a:r>
                    </a:p>
                    <a:p>
                      <a:r>
                        <a:t>(이동평균수렴확산)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EMA(12) - EMA(26)</a:t>
                      </a:r>
                    </a:p>
                    <a:p>
                      <a:r>
                        <a:t>Signal: EMA(9) / Hist = MACD - 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추세 전환 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Hist 양전환(&lt;=0 -&gt; &gt;0): 매수</a:t>
                      </a:r>
                    </a:p>
                    <a:p>
                      <a:r>
                        <a:t>• Hist 음전환(&gt;=0 -&gt; &lt;0): 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변동성 밴드</a:t>
                      </a:r>
                    </a:p>
                    <a:p>
                      <a:r>
                        <a:t>(Volatility Band)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Bollinger Bands</a:t>
                      </a:r>
                    </a:p>
                    <a:p>
                      <a:r>
                        <a:t>(%b 밴드)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중심선: SMA(20) ± 2.0σ</a:t>
                      </a:r>
                    </a:p>
                    <a:p>
                      <a:r>
                        <a:t>%b = (Price - Lower) / (Upper - Lower)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가격 극단 이탈 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%b &lt; 0 (하단 이탈): 역추세 매수</a:t>
                      </a:r>
                    </a:p>
                    <a:p>
                      <a:r>
                        <a:t>• %b &gt; 1.0 (상단 돌파): 전량 청산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가격 패턴 필터</a:t>
                      </a:r>
                    </a:p>
                    <a:p>
                      <a:r>
                        <a:t>(Pattern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Head &amp; Shoulders</a:t>
                      </a:r>
                    </a:p>
                    <a:p>
                      <a:r>
                        <a:t>(천장형 패턴) +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좌측 어깨 - 머리 - 우측 어깨 천장 탐지</a:t>
                      </a:r>
                    </a:p>
                    <a:p>
                      <a:r>
                        <a:t>MA20, MA60 정배열 추세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우수 주도주의 조기 강제매도</a:t>
                      </a:r>
                    </a:p>
                    <a:p>
                      <a:r>
                        <a:t>방지 (Keep 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순위 밖 밀려나도 H&amp;S 미발생 &amp; 상승추세 시 강제매도 면제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위험 관리 지표</a:t>
                      </a:r>
                    </a:p>
                    <a:p>
                      <a:r>
                        <a:t>(Risk 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Stop-Loss</a:t>
                      </a:r>
                    </a:p>
                    <a:p>
                      <a:r>
                        <a:t>(평단가 손절률)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Loss = (P_t - AvgCost) / AvgCost</a:t>
                      </a:r>
                    </a:p>
                    <a:p>
                      <a:r>
                        <a:t>임계값: -10.0%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구조적 대규모 폭락 방어</a:t>
                      </a:r>
                    </a:p>
                    <a:p>
                      <a:r>
                        <a:t>(단일 종목 하방 리스크 차단)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보유 종목 수익률 &lt;= -10% 도달 즉시 보유 수량 100% 전량 손절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기술적 지표 3종(RSI vs MACD vs BB) 전략 비교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동일 유니버스·동일 조건 하에서 단기 매매 지표별 백테스팅 성과 및 특성 대조</a:t>
            </a:r>
          </a:p>
        </p:txBody>
      </p:sp>
      <p:pic>
        <p:nvPicPr>
          <p:cNvPr id="4" name="Picture 3" descr="chart_indicators_3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3대 기술적 지표 특성 및 비교 결론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1. RSI 지표 (채택: 최우수 알파)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606건 거래 | CAGR 7.55% | MDD -13.27% | Sharpe 0.63</a:t>
            </a:r>
            <a:br/>
            <a:r>
              <a:t>• 장점: 극단적 과매도(&lt;20) 투매 시점의 역발상 진입과 과열(&gt;70) 분할 익절이 기민하게 작동하여 하락장과 횡보장에서 가장 우수한 위험조정성과 기록.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2. MACD 지표 (탈락: 시그널 지연)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578건 거래 | CAGR 6.48% | MDD -13.98% | Sharpe 0.55</a:t>
            </a:r>
            <a:br/>
            <a:r>
              <a:t>• 단점: 지수이동평균(EMA)의 시차(Lag)로 인해 히스토그램 전환 시점에 이미 시세가 상당 부분 진행되어 진입 단가가 불리하고, 잦은 휩소로 손실 발생.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3. Bollinger Bands 지표 (탈락: 강한 추세장 취약)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523건 거래 | CAGR 7.46% | MDD -12.66% | Sharpe 0.59</a:t>
            </a:r>
            <a:br/>
            <a:r>
              <a:t>• 단점: 밴드 상단 돌파 시 전량 청산하므로 강한 상승 랠리 종목을 조기에 놓치는 결함 발생 (본선 확장 시 성과 급락).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★ 기술적 지표 채택 결론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역발상 저점 매수와 분할 익절에 가장 최적화된 RSI(상대강도지수)를 전략의 핵심 단기 신호로 최종 선정.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RSI 지표 임계값 &amp; 쿨다운 스위프(Sweep) 최적화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임계값(Buy/Sell), 기간(Window), 재진입 쿨다운에 따른 성과 및 회전율 추이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002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RSI 실험 설정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매매 임계값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판정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(20/60)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830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익절 기준이 너무 낮아 조기청산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 (20/70) [C안]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70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296 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저회전·고효율, 본선 견고성 최고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1,004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2023 강세장 적합, 회전율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(30/70)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386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7.35%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진입 잦고 매도 지연으로 성과 저하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RSI 계산 기간(Window) 스위프 결과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7 (초단기, G안): 7,541건 거래 | CAGR 24.0% | 과도한 노이즈로 거래 수수료 급증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14 (표준, C안): 839건 거래 | CAGR 30.9% | Sharpe 1.15 (최적의 신호 안정성)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21 (중기, H안): 238건 거래 | CAGR 22.1% | 신호 발생 빈도 극감으로 기회 손실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노이즈와 반응성의 균형이 가장 뛰어난 14일 윈도우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재진입 쿨다운(Cooldown Days) 지표 효과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쿨다운 없음 (No Cooldown): RSI 과매도 구간에서 연일 연속 매수가 발생해 현금 급속 고갈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5일 쿨다운 (5-Day Cooldown): 회전율 개선, CAGR 15.5%, Sharpe 1.20으로 1차 개선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10일 쿨다운 (10-Day Cooldown, 채택): 대형 유니버스(Pool)에서 불필요한 미세거래를 70% 차단하며 Sharpe 극대화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동일 종목 10영업일 매수 쿨다운을 필수 리스크 규칙으로 확정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위험관리 지표(Stop-Loss) 도입 및 수준별 성과 비교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평단가 대비 손절률(Stop-Loss) 유무 및 수준에 따른 극적인 알파 차이 입증</a:t>
            </a:r>
          </a:p>
        </p:txBody>
      </p:sp>
      <p:pic>
        <p:nvPicPr>
          <p:cNvPr id="4" name="Picture 3" descr="chart_stoploss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손절매 지표의 구조적 혁신 분석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1. 손절 지표 없는 전략의 구조적 한계 (C안)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손절이 없던 초기 C안은 SMX(-86.6%), GMM(-51.6%) 등 -30% 이하 폭락 종목 14건을 장기 방치.</a:t>
            </a:r>
            <a:br/>
            <a:r>
              <a:t>• 그 결과 2024~2025 본선에서 CAGR이 19.9%에 머무름.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2. 손절률 수준별 실험 (-20% vs -15% vs -10%)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 20% (L안): CAGR 10.0% (너무 늦은 손절로 손실 누적)</a:t>
            </a:r>
            <a:br/>
            <a:r>
              <a:t>• 손절 15% (M안): CAGR 13.7%, Sharpe 0.66</a:t>
            </a:r>
            <a:br/>
            <a:r>
              <a:t>• 손절 10% (K안): CAGR 40.8% (2023) → 42.6% (본선) 달성!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3. -10% Stop-Loss가 최적인 이유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통계적으로 단기 눌림목(-5~8%)과 구조적 추세 붕괴(-10% 이상)의 경계선이 정확히 -10%에 위치.</a:t>
            </a:r>
            <a:br/>
            <a:r>
              <a:t>• 부실 종목을 즉시 전량 잘라내어 바닥 손실을 -4.6천만 원으로 철저히 통제함.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성과 도약 요약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손절 지표(-10%) 탑재 하나만으로 본선 CAGR이 19.9% ➔ 42.6%로 2배 이상 퀀텀 점프!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지표 조합 후보군 풀 스윕 &amp; 과적합(Overfitting) 판별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2023년 개발 실험 성과와 2024~2025년 본선 표본외 성과의 철저한 사후 검증</a:t>
            </a:r>
          </a:p>
        </p:txBody>
      </p:sp>
      <p:pic>
        <p:nvPicPr>
          <p:cNvPr id="4" name="Picture 3" descr="chart_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표본외(Out-of-Sample) 과적합 판별 결론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A안 (RSI 30/70, 비손절) ➔ 과적합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60.8%(1위)였으나 본선에서 2.19%로 폭락 (초과 -22.8%p).</a:t>
            </a:r>
            <a:br/>
            <a:r>
              <a:t>• 원인: 2023년의 일방적 대세상승장에만 맞춰진 늦은 매도가 2024년 조정장에서 치명적 손실 초래.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F안 &amp; J안 (볼린저 밴드 계열) ➔ 붕괴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F안 본선 -2.23%, J안(10/1.9) 본선 -2.49%로 음수 전환.</a:t>
            </a:r>
            <a:br/>
            <a:r>
              <a:t>• 원인: 1만 건 이상의 과도한 거래와 하단 이탈 역추세 매매가 하락장에서 연쇄 손실 야기.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C안 (저회전 RSI 20/70) ➔ 양 기간 통과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30.9% ➔ 본선 19.9% (초과 +16.4%p).</a:t>
            </a:r>
            <a:br/>
            <a:r>
              <a:t>• 유일하게 양 기간 모두 B&amp;H(27.2%)를 초과한 견고한 베이스라인.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K안 (C안 + 손절 10%) ➔ 최종 승격 채택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40.8% ➔ 본선 42.58% (Sharpe 1.39, 초과 +75.4%p).</a:t>
            </a:r>
            <a:br/>
            <a:r>
              <a:t>• 양 기간 모두에서 압도적 알파를 증명한 단 하나의 완성형 전략!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AI 프롬프트 엔지니어링 및 2단계 검증 체계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P0 시간 기준선 엄수부터 P13 풀 재구축까지 체계화된 AI 보조 개발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아키텍처 (prompts/AI프롬프트모음.md)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(시스템 근간)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2024~2025 백테스트는 오직 2023-12-31 이전 확정치만 보고 설계. 미래 참조 시 버그 처리.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P5. 엔진 구축 및 분석 자동화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config.yaml 기반 엔진 구축, 동적 P/E 산출, analysis.json/md 자동 생성 및 Empyrical 교차검증 연동.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P6 ~ P7. 전종목 파이프라인 확장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EDGAR 10-K 확정 보고서 자동 파싱 및 60일 평균 일대금 $1,000,000 유동성 필터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엑셀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실험(outputs_exp) / 본선(outputs_final) 분리 실행 및 날짜 서식이 완비된 report.xlsx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P12 ~ P13. 한글 매핑 및 스위프 도구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종목 한글명 매핑 및 파라미터 스위프용 CLI 인자(--set) 배선.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전략(my_strategy) 진화 일지 (S1 히스토리)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v1.0 (초기 뼈대)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스윙 50% + 단기 40% + 현금 10% 구조 및 유니버스 파일화.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v2.0 (H&amp;S 면제 규칙)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상위 9개+현금 10% 고정, 2주 리밸런싱, 헤드앤숄더 패턴 미발생 보유종목 매도 면제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v2.2 (RSI 신호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기술적 신호 3종(RSI, MACD, BB) 비교 후 RSI 모멘텀 선정.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v2.3 (회전율 쿨다운)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단기 휩소 억제를 위한 동일 종목 10일 재매수 쿨다운 규칙 확정.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v2.4 (풀 스윕 및 C안)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저회전 C안(RSI 20/70, 쿨다운 10일)이 양 기간 모두 B&amp;H를 초과한 유일안으로 검증.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v2.5 (최종 K안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-10% Stop-loss를 탑재하여 본선 CAGR 42.6%, Sharpe 1.39 달성 (config.yaml 승격).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731520"/>
                <a:gridCol w="914400"/>
                <a:gridCol w="1280160"/>
                <a:gridCol w="1280160"/>
                <a:gridCol w="1463040"/>
                <a:gridCol w="164592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핵심 소스코드 아키텍처 및 설정 파일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config.yaml 구현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■ src/strategies/my_strategy.py 핵심 코드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config.yaml 확정 파라미터 (v2.5 K안)</a:t>
            </a:r>
          </a:p>
          <a:p>
            <a:pPr>
              <a:spcBef>
                <a:spcPts val="800"/>
              </a:spcBef>
              <a:defRPr sz="819">
                <a:solidFill>
                  <a:srgbClr val="0F172A"/>
                </a:solidFill>
                <a:latin typeface="Consolas"/>
              </a:defRPr>
            </a:pPr>
            <a:r>
              <a:t>market: US</a:t>
            </a:r>
            <a:br/>
            <a:r>
              <a:t>initial_capital: 1000000000   # 10억 원 (수익률 무관, 단위 규약)</a:t>
            </a:r>
            <a:br/>
            <a:r>
              <a:t>mode: 'final'                 # 2024~2025 표본외 본 백테스트</a:t>
            </a:r>
            <a:br/>
            <a:r>
              <a:t>start: '2024-01-01'</a:t>
            </a:r>
            <a:br/>
            <a:r>
              <a:t>end: '2025-12-31'</a:t>
            </a:r>
            <a:br/>
            <a:r>
              <a:t>design_cutoff: '2023-12-31'   # 미래 참조 차단 컷오프</a:t>
            </a:r>
            <a:br/>
            <a:r>
              <a:t>cash_yield_annual: 0.04       # MMF 연 4.0% 이자율</a:t>
            </a:r>
            <a:br/>
            <a:br/>
            <a:r>
              <a:t>strategy:</a:t>
            </a:r>
            <a:br/>
            <a:r>
              <a:t>  module: 'my_strategy'       # 본인 전략 v2.5</a:t>
            </a:r>
            <a:br/>
            <a:r>
              <a:t>  top_n: 9                    # 상위 9개 주식</a:t>
            </a:r>
            <a:br/>
            <a:r>
              <a:t>  weight_each: 0.10           # 종목당 기본 10%</a:t>
            </a:r>
            <a:br/>
            <a:r>
              <a:t>  cash_weight: 0.10           # 현금 10% 항시 유지</a:t>
            </a:r>
            <a:br/>
            <a:r>
              <a:t>  rebalance_freq: '2W'        # 2주 주기 리밸런싱</a:t>
            </a:r>
            <a:br/>
            <a:r>
              <a:t>  rebalance_band: 0.02        # 목표비중 이탈 허용 2%</a:t>
            </a:r>
            <a:br/>
            <a:r>
              <a:t>  short:</a:t>
            </a:r>
            <a:br/>
            <a:r>
              <a:t>    signal: 'rsi'             # RSI 모멘텀 채택</a:t>
            </a:r>
            <a:br/>
            <a:r>
              <a:t>    rsi_window: 14            # 14일 윈도우</a:t>
            </a:r>
            <a:br/>
            <a:r>
              <a:t>    rsi_buy: 20               # 과매도 저점 분할매수</a:t>
            </a:r>
            <a:br/>
            <a:r>
              <a:t>    rsi_sell: 70              # 과열권 50% 분할익절</a:t>
            </a:r>
            <a:br/>
            <a:r>
              <a:t>    cooldown_days: 10         # 10일 매수 쿨다운</a:t>
            </a:r>
            <a:br/>
            <a:r>
              <a:t>    stop_loss: 0.10           # 평단가 대비 -10% 전량 손절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400"/>
              </a:spcBef>
              <a:defRPr sz="1350">
                <a:solidFill>
                  <a:srgbClr val="94A3B8"/>
                </a:solidFill>
              </a:defRPr>
            </a:pPr>
            <a:r>
              <a:t>사용 지표(PER·PBR·RSI·MACD·BB·H&amp;S·Stop-Loss)별 전략 체계화 및 표본외(2024~2025) 복합 알파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기간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2개년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CAGR 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신속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Sharpe 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대상: AI퀘스트 /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종합 구성 목차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6대 핵심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포트폴리오 배분 (주식 9개 90% + 현금 MMF 10%)</a:t>
            </a:r>
            <a:br/>
            <a:r>
              <a:t>• 2주 리밸런싱 주기 및 2% 불감대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전략 사용 지표 체계 및 비교 분석 (★)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지표 분류 체계 (가치, 모멘텀, 추세, 변동성, 손절)</a:t>
            </a:r>
            <a:br/>
            <a:r>
              <a:t>• 기술적 신호 3종 (RSI vs MACD vs BB) 비교 실험</a:t>
            </a:r>
            <a:br/>
            <a:r>
              <a:t>• RSI 임계값 스위프 &amp; 손절률(Stop-Loss)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2단계 표본외 검증 체계 (2023 개발 실험 → 2024-2025 본선)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우수 요인: 밸류에이션 결합, 하방 리스크 방어, RSI 알파</a:t>
            </a:r>
            <a:br/>
            <a:r>
              <a:t>• 한계 및 개선과제: 75배 회전율/수수료, 종목 쏠림 리스크</a:t>
            </a:r>
            <a:br/>
            <a:r>
              <a:t>• 2024년 1분기 시장 조정기 심층 원인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AI 프롬프트 아키텍처 (P0 시간선 지침 ~ P13 스위프)</a:t>
            </a:r>
            <a:br/>
            <a:r>
              <a:t>• my_strategy.py 핵심 전략 소스코드 구조 및 config.yaml</a:t>
            </a:r>
            <a:br/>
            <a:r>
              <a:t>• 투자사 규격 산출물 연계 (report.xlsx, discovery.csv)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구성에 활용된 6대 지표 분류 체계 (Taxonomy)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펀더멘털 팩터, 기술적 오실레이터, 추세 패턴 및 위험관리 지표의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468880"/>
                <a:gridCol w="2468880"/>
                <a:gridCol w="2468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지표 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사용 지표명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산출 공식 및 파라미터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내 핵심 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매매 시그널 및 집행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밸류에이션 팩터</a:t>
                      </a:r>
                    </a:p>
                    <a:p>
                      <a:r>
                        <a:t>(Fundamental)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PER + PBR</a:t>
                      </a:r>
                    </a:p>
                    <a:p>
                      <a:r>
                        <a:t>결합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P_t / EPS_0 (FY2023 확정)</a:t>
                      </a:r>
                    </a:p>
                    <a:p>
                      <a:r>
                        <a:t>P_t / BPS_0 (FY2023 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장기 저평가 우량주 선별</a:t>
                      </a:r>
                    </a:p>
                    <a:p>
                      <a:r>
                        <a:t>(가치 팩터 알파 창출)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 2주마다 합산 랭크 상위 9개 종목 선정 (각 10% 비중 배분)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모멘텀 오실레이터</a:t>
                      </a:r>
                    </a:p>
                    <a:p>
                      <a:r>
                        <a:t>(Oscillator)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</a:t>
                      </a:r>
                    </a:p>
                    <a:p>
                      <a:r>
                        <a:t>(상대강도지수)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RSI(14) = 100 - [100 / (1 + RS)]</a:t>
                      </a:r>
                    </a:p>
                    <a:p>
                      <a:r>
                        <a:t>RS = 14일 평균상승폭 / 하락폭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과매도 저점 포착 및</a:t>
                      </a:r>
                    </a:p>
                    <a:p>
                      <a:r>
                        <a:t>과열 구간 분할 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RSI &lt; 20: 가용현금 50% 분할매수</a:t>
                      </a:r>
                    </a:p>
                    <a:p>
                      <a:r>
                        <a:t>• RSI &gt; 70: 보유주식 50% 분할익절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추세 추종 신호</a:t>
                      </a:r>
                    </a:p>
                    <a:p>
                      <a:r>
                        <a:t>(Trend Signal)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MACD</a:t>
                      </a:r>
                    </a:p>
                    <a:p>
                      <a:r>
                        <a:t>(이동평균수렴확산)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EMA(12) - EMA(26)</a:t>
                      </a:r>
                    </a:p>
                    <a:p>
                      <a:r>
                        <a:t>Signal: EMA(9) / Hist = MACD - 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추세 전환 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Hist 양전환(&lt;=0 -&gt; &gt;0): 매수</a:t>
                      </a:r>
                    </a:p>
                    <a:p>
                      <a:r>
                        <a:t>• Hist 음전환(&gt;=0 -&gt; &lt;0): 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변동성 밴드</a:t>
                      </a:r>
                    </a:p>
                    <a:p>
                      <a:r>
                        <a:t>(Volatility Band)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Bollinger Bands</a:t>
                      </a:r>
                    </a:p>
                    <a:p>
                      <a:r>
                        <a:t>(%b 밴드)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중심선: SMA(20) ± 2.0σ</a:t>
                      </a:r>
                    </a:p>
                    <a:p>
                      <a:r>
                        <a:t>%b = (Price - Lower) / (Upper - Lower)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가격 극단 이탈 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%b &lt; 0 (하단 이탈): 역추세 매수</a:t>
                      </a:r>
                    </a:p>
                    <a:p>
                      <a:r>
                        <a:t>• %b &gt; 1.0 (상단 돌파): 전량 청산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가격 패턴 필터</a:t>
                      </a:r>
                    </a:p>
                    <a:p>
                      <a:r>
                        <a:t>(Pattern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Head &amp; Shoulders</a:t>
                      </a:r>
                    </a:p>
                    <a:p>
                      <a:r>
                        <a:t>(천장형 패턴) +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좌측 어깨 - 머리 - 우측 어깨 천장 탐지</a:t>
                      </a:r>
                    </a:p>
                    <a:p>
                      <a:r>
                        <a:t>MA20, MA60 정배열 추세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우수 주도주의 조기 강제매도</a:t>
                      </a:r>
                    </a:p>
                    <a:p>
                      <a:r>
                        <a:t>방지 (Keep 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순위 밖 밀려나도 H&amp;S 미발생 &amp; 상승추세 시 강제매도 면제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위험 관리 지표</a:t>
                      </a:r>
                    </a:p>
                    <a:p>
                      <a:r>
                        <a:t>(Risk 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Stop-Loss</a:t>
                      </a:r>
                    </a:p>
                    <a:p>
                      <a:r>
                        <a:t>(평단가 손절률)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Loss = (P_t - AvgCost) / AvgCost</a:t>
                      </a:r>
                    </a:p>
                    <a:p>
                      <a:r>
                        <a:t>임계값: -10.0%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구조적 대규모 폭락 방어</a:t>
                      </a:r>
                    </a:p>
                    <a:p>
                      <a:r>
                        <a:t>(단일 종목 하방 리스크 차단)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보유 종목 수익률 &lt;= -10% 도달 즉시 보유 수량 100% 전량 손절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기술적 지표 3종(RSI vs MACD vs BB) 전략 비교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동일 유니버스·동일 조건 하에서 단기 매매 지표별 백테스팅 성과 및 특성 대조</a:t>
            </a:r>
          </a:p>
        </p:txBody>
      </p:sp>
      <p:pic>
        <p:nvPicPr>
          <p:cNvPr id="4" name="Picture 3" descr="chart_indicators_3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3대 기술적 지표 특성 및 비교 결론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1. RSI 지표 (채택: 최우수 알파)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606건 거래 | CAGR 7.55% | MDD -13.27% | Sharpe 0.63</a:t>
            </a:r>
            <a:br/>
            <a:r>
              <a:t>• 장점: 극단적 과매도(&lt;20) 투매 시점의 역발상 진입과 과열(&gt;70) 분할 익절이 기민하게 작동하여 하락장과 횡보장에서 가장 우수한 위험조정성과 기록.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2. MACD 지표 (탈락: 시그널 지연)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578건 거래 | CAGR 6.48% | MDD -13.98% | Sharpe 0.55</a:t>
            </a:r>
            <a:br/>
            <a:r>
              <a:t>• 단점: 지수이동평균(EMA)의 시차(Lag)로 인해 히스토그램 전환 시점에 이미 시세가 상당 부분 진행되어 진입 단가가 불리하고, 잦은 휩소로 손실 발생.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3. Bollinger Bands 지표 (탈락: 강한 추세장 취약)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523건 거래 | CAGR 7.46% | MDD -12.66% | Sharpe 0.59</a:t>
            </a:r>
            <a:br/>
            <a:r>
              <a:t>• 단점: 밴드 상단 돌파 시 전량 청산하므로 강한 상승 랠리 종목을 조기에 놓치는 결함 발생 (본선 확장 시 성과 급락).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★ 기술적 지표 채택 결론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역발상 저점 매수와 분할 익절에 가장 최적화된 RSI(상대강도지수)를 전략의 핵심 단기 신호로 최종 선정.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RSI 지표 임계값 &amp; 쿨다운 스위프(Sweep) 최적화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임계값(Buy/Sell), 기간(Window), 재진입 쿨다운에 따른 성과 및 회전율 추이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002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RSI 실험 설정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매매 임계값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판정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(20/60)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830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익절 기준이 너무 낮아 조기청산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 (20/70) [C안]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70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296 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저회전·고효율, 본선 견고성 최고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1,004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2023 강세장 적합, 회전율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(30/70)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386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7.35%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진입 잦고 매도 지연으로 성과 저하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RSI 계산 기간(Window) 스위프 결과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7 (초단기, G안): 7,541건 거래 | CAGR 24.0% | 과도한 노이즈로 거래 수수료 급증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14 (표준, C안): 839건 거래 | CAGR 30.9% | Sharpe 1.15 (최적의 신호 안정성)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21 (중기, H안): 238건 거래 | CAGR 22.1% | 신호 발생 빈도 극감으로 기회 손실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노이즈와 반응성의 균형이 가장 뛰어난 14일 윈도우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재진입 쿨다운(Cooldown Days) 지표 효과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쿨다운 없음 (No Cooldown): RSI 과매도 구간에서 연일 연속 매수가 발생해 현금 급속 고갈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5일 쿨다운 (5-Day Cooldown): 회전율 개선, CAGR 15.5%, Sharpe 1.20으로 1차 개선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10일 쿨다운 (10-Day Cooldown, 채택): 대형 유니버스(Pool)에서 불필요한 미세거래를 70% 차단하며 Sharpe 극대화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동일 종목 10영업일 매수 쿨다운을 필수 리스크 규칙으로 확정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위험관리 지표(Stop-Loss) 도입 및 수준별 성과 비교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평단가 대비 손절률(Stop-Loss) 유무 및 수준에 따른 극적인 알파 차이 입증</a:t>
            </a:r>
          </a:p>
        </p:txBody>
      </p:sp>
      <p:pic>
        <p:nvPicPr>
          <p:cNvPr id="4" name="Picture 3" descr="chart_stoploss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손절매 지표의 구조적 혁신 분석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1. 손절 지표 없는 전략의 구조적 한계 (C안)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손절이 없던 초기 C안은 SMX(-86.6%), GMM(-51.6%) 등 -30% 이하 폭락 종목 14건을 장기 방치.</a:t>
            </a:r>
            <a:br/>
            <a:r>
              <a:t>• 그 결과 2024~2025 본선에서 CAGR이 19.9%에 머무름.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2. 손절률 수준별 실험 (-20% vs -15% vs -10%)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 20% (L안): CAGR 10.0% (너무 늦은 손절로 손실 누적)</a:t>
            </a:r>
            <a:br/>
            <a:r>
              <a:t>• 손절 15% (M안): CAGR 13.7%, Sharpe 0.66</a:t>
            </a:r>
            <a:br/>
            <a:r>
              <a:t>• 손절 10% (K안): CAGR 40.8% (2023) → 42.6% (본선) 달성!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3. -10% Stop-Loss가 최적인 이유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통계적으로 단기 눌림목(-5~8%)과 구조적 추세 붕괴(-10% 이상)의 경계선이 정확히 -10%에 위치.</a:t>
            </a:r>
            <a:br/>
            <a:r>
              <a:t>• 부실 종목을 즉시 전량 잘라내어 바닥 손실을 -4.6천만 원으로 철저히 통제함.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성과 도약 요약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손절 지표(-10%) 탑재 하나만으로 본선 CAGR이 19.9% ➔ 42.6%로 2배 이상 퀀텀 점프!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지표 조합 후보군 풀 스윕 &amp; 과적합(Overfitting) 판별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2023년 개발 실험 성과와 2024~2025년 본선 표본외 성과의 철저한 사후 검증</a:t>
            </a:r>
          </a:p>
        </p:txBody>
      </p:sp>
      <p:pic>
        <p:nvPicPr>
          <p:cNvPr id="4" name="Picture 3" descr="chart_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표본외(Out-of-Sample) 과적합 판별 결론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A안 (RSI 30/70, 비손절) ➔ 과적합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60.8%(1위)였으나 본선에서 2.19%로 폭락 (초과 -22.8%p).</a:t>
            </a:r>
            <a:br/>
            <a:r>
              <a:t>• 원인: 2023년의 일방적 대세상승장에만 맞춰진 늦은 매도가 2024년 조정장에서 치명적 손실 초래.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F안 &amp; J안 (볼린저 밴드 계열) ➔ 붕괴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F안 본선 -2.23%, J안(10/1.9) 본선 -2.49%로 음수 전환.</a:t>
            </a:r>
            <a:br/>
            <a:r>
              <a:t>• 원인: 1만 건 이상의 과도한 거래와 하단 이탈 역추세 매매가 하락장에서 연쇄 손실 야기.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C안 (저회전 RSI 20/70) ➔ 양 기간 통과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30.9% ➔ 본선 19.9% (초과 +16.4%p).</a:t>
            </a:r>
            <a:br/>
            <a:r>
              <a:t>• 유일하게 양 기간 모두 B&amp;H(27.2%)를 초과한 견고한 베이스라인.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K안 (C안 + 손절 10%) ➔ 최종 승격 채택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40.8% ➔ 본선 42.58% (Sharpe 1.39, 초과 +75.4%p).</a:t>
            </a:r>
            <a:br/>
            <a:r>
              <a:t>• 양 기간 모두에서 압도적 알파를 증명한 단 하나의 완성형 전략!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AI 프롬프트 엔지니어링 및 2단계 검증 체계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P0 시간 기준선 엄수부터 P13 풀 재구축까지 체계화된 AI 보조 개발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아키텍처 (prompts/AI프롬프트모음.md)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(시스템 근간)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2024~2025 백테스트는 오직 2023-12-31 이전 확정치만 보고 설계. 미래 참조 시 버그 처리.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P5. 엔진 구축 및 분석 자동화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config.yaml 기반 엔진 구축, 동적 P/E 산출, analysis.json/md 자동 생성 및 Empyrical 교차검증 연동.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P6 ~ P7. 전종목 파이프라인 확장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EDGAR 10-K 확정 보고서 자동 파싱 및 60일 평균 일대금 $1,000,000 유동성 필터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엑셀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실험(outputs_exp) / 본선(outputs_final) 분리 실행 및 날짜 서식이 완비된 report.xlsx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P12 ~ P13. 한글 매핑 및 스위프 도구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종목 한글명 매핑 및 파라미터 스위프용 CLI 인자(--set) 배선.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전략(my_strategy) 진화 일지 (S1 히스토리)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v1.0 (초기 뼈대)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스윙 50% + 단기 40% + 현금 10% 구조 및 유니버스 파일화.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v2.0 (H&amp;S 면제 규칙)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상위 9개+현금 10% 고정, 2주 리밸런싱, 헤드앤숄더 패턴 미발생 보유종목 매도 면제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v2.2 (RSI 신호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기술적 신호 3종(RSI, MACD, BB) 비교 후 RSI 모멘텀 선정.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v2.3 (회전율 쿨다운)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단기 휩소 억제를 위한 동일 종목 10일 재매수 쿨다운 규칙 확정.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v2.4 (풀 스윕 및 C안)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저회전 C안(RSI 20/70, 쿨다운 10일)이 양 기간 모두 B&amp;H를 초과한 유일안으로 검증.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v2.5 (최종 K안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-10% Stop-loss를 탑재하여 본선 CAGR 42.6%, Sharpe 1.39 달성 (config.yaml 승격).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731520"/>
                <a:gridCol w="914400"/>
                <a:gridCol w="1280160"/>
                <a:gridCol w="1280160"/>
                <a:gridCol w="1463040"/>
                <a:gridCol w="164592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핵심 소스코드 아키텍처 및 설정 파일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config.yaml 구현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■ src/strategies/my_strategy.py 핵심 코드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config.yaml 확정 파라미터 (v2.5 K안)</a:t>
            </a:r>
          </a:p>
          <a:p>
            <a:pPr>
              <a:spcBef>
                <a:spcPts val="800"/>
              </a:spcBef>
              <a:defRPr sz="819">
                <a:solidFill>
                  <a:srgbClr val="0F172A"/>
                </a:solidFill>
                <a:latin typeface="Consolas"/>
              </a:defRPr>
            </a:pPr>
            <a:r>
              <a:t>market: US</a:t>
            </a:r>
            <a:br/>
            <a:r>
              <a:t>initial_capital: 1000000000   # 10억 원 (수익률 무관, 단위 규약)</a:t>
            </a:r>
            <a:br/>
            <a:r>
              <a:t>mode: 'final'                 # 2024~2025 표본외 본 백테스트</a:t>
            </a:r>
            <a:br/>
            <a:r>
              <a:t>start: '2024-01-01'</a:t>
            </a:r>
            <a:br/>
            <a:r>
              <a:t>end: '2025-12-31'</a:t>
            </a:r>
            <a:br/>
            <a:r>
              <a:t>design_cutoff: '2023-12-31'   # 미래 참조 차단 컷오프</a:t>
            </a:r>
            <a:br/>
            <a:r>
              <a:t>cash_yield_annual: 0.04       # MMF 연 4.0% 이자율</a:t>
            </a:r>
            <a:br/>
            <a:br/>
            <a:r>
              <a:t>strategy:</a:t>
            </a:r>
            <a:br/>
            <a:r>
              <a:t>  module: 'my_strategy'       # 본인 전략 v2.5</a:t>
            </a:r>
            <a:br/>
            <a:r>
              <a:t>  top_n: 9                    # 상위 9개 주식</a:t>
            </a:r>
            <a:br/>
            <a:r>
              <a:t>  weight_each: 0.10           # 종목당 기본 10%</a:t>
            </a:r>
            <a:br/>
            <a:r>
              <a:t>  cash_weight: 0.10           # 현금 10% 항시 유지</a:t>
            </a:r>
            <a:br/>
            <a:r>
              <a:t>  rebalance_freq: '2W'        # 2주 주기 리밸런싱</a:t>
            </a:r>
            <a:br/>
            <a:r>
              <a:t>  rebalance_band: 0.02        # 목표비중 이탈 허용 2%</a:t>
            </a:r>
            <a:br/>
            <a:r>
              <a:t>  short:</a:t>
            </a:r>
            <a:br/>
            <a:r>
              <a:t>    signal: 'rsi'             # RSI 모멘텀 채택</a:t>
            </a:r>
            <a:br/>
            <a:r>
              <a:t>    rsi_window: 14            # 14일 윈도우</a:t>
            </a:r>
            <a:br/>
            <a:r>
              <a:t>    rsi_buy: 20               # 과매도 저점 분할매수</a:t>
            </a:r>
            <a:br/>
            <a:r>
              <a:t>    rsi_sell: 70              # 과열권 50% 분할익절</a:t>
            </a:r>
            <a:br/>
            <a:r>
              <a:t>    cooldown_days: 10         # 10일 매수 쿨다운</a:t>
            </a:r>
            <a:br/>
            <a:r>
              <a:t>    stop_loss: 0.10           # 평단가 대비 -10% 전량 손절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