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41148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IT신기술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 / </a:t>
            </a:r>
            <a:r>
              <a:rPr dirty="0" err="1"/>
              <a:t>퀀트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백테스팅</a:t>
            </a:r>
            <a:r>
              <a:rPr dirty="0"/>
              <a:t> </a:t>
            </a:r>
            <a:r>
              <a:rPr dirty="0" err="1"/>
              <a:t>보고서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리밸런싱</a:t>
            </a:r>
            <a:r>
              <a:rPr dirty="0"/>
              <a:t> 및 </a:t>
            </a:r>
            <a:r>
              <a:rPr dirty="0" err="1"/>
              <a:t>전술적</a:t>
            </a:r>
            <a:r>
              <a:rPr dirty="0"/>
              <a:t>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매매</a:t>
            </a:r>
            <a:br>
              <a:rPr dirty="0"/>
            </a:br>
            <a:r>
              <a:rPr dirty="0" err="1"/>
              <a:t>백테스팅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보고서</a:t>
            </a:r>
            <a:endParaRPr dirty="0"/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Malgun Gothic"/>
              </a:defRPr>
            </a:pPr>
            <a:r>
              <a:rPr dirty="0"/>
              <a:t>SEC EDGAR 10-K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펀더멘털</a:t>
            </a:r>
            <a:r>
              <a:rPr dirty="0"/>
              <a:t> </a:t>
            </a:r>
            <a:r>
              <a:rPr dirty="0" err="1"/>
              <a:t>랭킹</a:t>
            </a:r>
            <a:r>
              <a:rPr dirty="0"/>
              <a:t>, H&amp;S </a:t>
            </a:r>
            <a:r>
              <a:rPr dirty="0" err="1"/>
              <a:t>추세</a:t>
            </a:r>
            <a:r>
              <a:rPr dirty="0"/>
              <a:t> </a:t>
            </a:r>
            <a:r>
              <a:rPr dirty="0" err="1"/>
              <a:t>면제</a:t>
            </a:r>
            <a:r>
              <a:rPr dirty="0"/>
              <a:t>, RSI </a:t>
            </a:r>
            <a:r>
              <a:rPr dirty="0" err="1"/>
              <a:t>모멘텀</a:t>
            </a:r>
            <a:r>
              <a:rPr dirty="0"/>
              <a:t> &amp; </a:t>
            </a:r>
            <a:r>
              <a:rPr dirty="0" err="1"/>
              <a:t>손절</a:t>
            </a:r>
            <a:r>
              <a:rPr dirty="0"/>
              <a:t> </a:t>
            </a:r>
            <a:r>
              <a:rPr dirty="0" err="1"/>
              <a:t>필터를</a:t>
            </a:r>
            <a:r>
              <a:rPr dirty="0"/>
              <a:t> </a:t>
            </a:r>
            <a:r>
              <a:rPr dirty="0" err="1"/>
              <a:t>결합한</a:t>
            </a:r>
            <a:r>
              <a:rPr dirty="0"/>
              <a:t> </a:t>
            </a:r>
            <a:r>
              <a:rPr dirty="0" err="1"/>
              <a:t>복합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구간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(2개년 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 (CAGR)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 (Sharpe)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산출물: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구성 및 제출 항목 목차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5개 핵심 세부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자산 배분 비중 (주식 9개 90% + 현금 MMF 10%)</a:t>
            </a:r>
            <a:br/>
            <a:r>
              <a:t>• 2주 리밸런싱 주기, H&amp;S 추세 면제, RSI 20/70 단기 매매 및 -10% 손절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표본외 2단계 검증 체계 (2023 개발 실험 → 2024-2025 본 백테스트)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 (Top 5 vs Bottom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우수 요인: 밸류에이션 팩터 결합, 하방 리스크 방어, RSI 역발상 매수</a:t>
            </a:r>
            <a:br/>
            <a:r>
              <a:t>• 한계 및 개선과제: 75배 회전율 및 9.4천만 원 수수료, 주도주 쏠림</a:t>
            </a:r>
            <a:br/>
            <a:r>
              <a:t>• 2024년 1분기 시장 조정기 원인 분석 및 실전 최적화 방안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607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480060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9509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및 AI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자료</a:t>
            </a:r>
            <a:endParaRPr dirty="0"/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rPr dirty="0"/>
              <a:t>• AI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아키텍처</a:t>
            </a:r>
            <a:r>
              <a:rPr dirty="0"/>
              <a:t> (P0 </a:t>
            </a:r>
            <a:r>
              <a:rPr dirty="0" err="1"/>
              <a:t>시간선</a:t>
            </a:r>
            <a:r>
              <a:rPr dirty="0"/>
              <a:t> </a:t>
            </a:r>
            <a:r>
              <a:rPr dirty="0" err="1"/>
              <a:t>지침</a:t>
            </a:r>
            <a:r>
              <a:rPr dirty="0"/>
              <a:t> ~ P13 풀 </a:t>
            </a:r>
            <a:r>
              <a:rPr dirty="0" err="1"/>
              <a:t>재구축</a:t>
            </a:r>
            <a:r>
              <a:rPr dirty="0"/>
              <a:t>/</a:t>
            </a:r>
            <a:r>
              <a:rPr dirty="0" err="1"/>
              <a:t>스위프</a:t>
            </a:r>
            <a:r>
              <a:rPr dirty="0"/>
              <a:t>)</a:t>
            </a:r>
            <a:br>
              <a:rPr dirty="0"/>
            </a:br>
            <a:r>
              <a:rPr dirty="0"/>
              <a:t>• my_strategy.py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 </a:t>
            </a:r>
            <a:r>
              <a:rPr dirty="0" err="1"/>
              <a:t>소스코드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및 </a:t>
            </a:r>
            <a:r>
              <a:rPr dirty="0" err="1"/>
              <a:t>config.yaml</a:t>
            </a:r>
            <a:r>
              <a:rPr dirty="0"/>
              <a:t> </a:t>
            </a:r>
            <a:r>
              <a:rPr dirty="0" err="1"/>
              <a:t>설정</a:t>
            </a:r>
            <a:br>
              <a:rPr dirty="0"/>
            </a:br>
            <a:r>
              <a:rPr dirty="0"/>
              <a:t>• </a:t>
            </a:r>
            <a:r>
              <a:rPr dirty="0" err="1"/>
              <a:t>투자사</a:t>
            </a:r>
            <a:r>
              <a:rPr dirty="0"/>
              <a:t> </a:t>
            </a:r>
            <a:r>
              <a:rPr dirty="0" err="1"/>
              <a:t>규격</a:t>
            </a:r>
            <a:r>
              <a:rPr dirty="0"/>
              <a:t> </a:t>
            </a:r>
            <a:r>
              <a:rPr dirty="0" err="1"/>
              <a:t>산출물</a:t>
            </a:r>
            <a:r>
              <a:rPr dirty="0"/>
              <a:t> </a:t>
            </a:r>
            <a:r>
              <a:rPr dirty="0" err="1"/>
              <a:t>연계</a:t>
            </a:r>
            <a:r>
              <a:rPr dirty="0"/>
              <a:t> (report.xlsx, discovery.csv 등)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■ </a:t>
            </a:r>
            <a:r>
              <a:rPr dirty="0" err="1"/>
              <a:t>나스닥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3단계 </a:t>
            </a:r>
            <a:r>
              <a:rPr dirty="0" err="1"/>
              <a:t>유니버스</a:t>
            </a:r>
            <a:r>
              <a:rPr dirty="0"/>
              <a:t> </a:t>
            </a:r>
            <a:r>
              <a:rPr dirty="0" err="1"/>
              <a:t>선별</a:t>
            </a:r>
            <a:r>
              <a:rPr dirty="0"/>
              <a:t> </a:t>
            </a:r>
            <a:r>
              <a:rPr dirty="0" err="1"/>
              <a:t>파이프라인</a:t>
            </a:r>
            <a:endParaRPr dirty="0"/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• 1단계: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상장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rPr dirty="0" err="1"/>
              <a:t>나스닥</a:t>
            </a:r>
            <a:r>
              <a:rPr dirty="0"/>
              <a:t> </a:t>
            </a:r>
            <a:r>
              <a:rPr dirty="0" err="1"/>
              <a:t>상장</a:t>
            </a:r>
            <a:r>
              <a:rPr dirty="0"/>
              <a:t> 6,239개 중 </a:t>
            </a:r>
            <a:r>
              <a:rPr dirty="0" err="1"/>
              <a:t>시세</a:t>
            </a:r>
            <a:r>
              <a:rPr dirty="0"/>
              <a:t> </a:t>
            </a:r>
            <a:r>
              <a:rPr dirty="0" err="1"/>
              <a:t>수신</a:t>
            </a:r>
            <a:r>
              <a:rPr dirty="0"/>
              <a:t> </a:t>
            </a:r>
            <a:r>
              <a:rPr dirty="0" err="1"/>
              <a:t>정상</a:t>
            </a:r>
            <a:r>
              <a:rPr dirty="0"/>
              <a:t> 5,753개 </a:t>
            </a:r>
            <a:r>
              <a:rPr dirty="0" err="1"/>
              <a:t>확보</a:t>
            </a:r>
            <a:r>
              <a:rPr dirty="0"/>
              <a:t> (OTC </a:t>
            </a:r>
            <a:r>
              <a:rPr dirty="0" err="1"/>
              <a:t>잡음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배제</a:t>
            </a:r>
            <a:r>
              <a:rPr dirty="0"/>
              <a:t>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• 2단계: </a:t>
            </a:r>
            <a:r>
              <a:rPr dirty="0" err="1"/>
              <a:t>엄격한</a:t>
            </a:r>
            <a:r>
              <a:rPr dirty="0"/>
              <a:t> </a:t>
            </a:r>
            <a:r>
              <a:rPr dirty="0" err="1"/>
              <a:t>유동성</a:t>
            </a:r>
            <a:r>
              <a:rPr dirty="0"/>
              <a:t> </a:t>
            </a:r>
            <a:r>
              <a:rPr dirty="0" err="1"/>
              <a:t>필터링</a:t>
            </a:r>
            <a:r>
              <a:rPr dirty="0"/>
              <a:t> (Liquidity Filter)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rPr dirty="0" err="1"/>
              <a:t>전략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컷오프</a:t>
            </a:r>
            <a:r>
              <a:rPr dirty="0"/>
              <a:t>(2023-12-31) </a:t>
            </a:r>
            <a:r>
              <a:rPr dirty="0" err="1"/>
              <a:t>직전</a:t>
            </a:r>
            <a:r>
              <a:rPr dirty="0"/>
              <a:t> 60영업일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일거래대금</a:t>
            </a:r>
            <a:r>
              <a:rPr dirty="0"/>
              <a:t> $1,000,000(약 13억 원)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종목만</a:t>
            </a:r>
            <a:r>
              <a:rPr dirty="0"/>
              <a:t> </a:t>
            </a:r>
            <a:r>
              <a:rPr dirty="0" err="1"/>
              <a:t>통과</a:t>
            </a:r>
            <a:r>
              <a:rPr dirty="0"/>
              <a:t> → </a:t>
            </a:r>
            <a:r>
              <a:rPr dirty="0" err="1"/>
              <a:t>최종</a:t>
            </a:r>
            <a:r>
              <a:rPr dirty="0"/>
              <a:t> 3,175개 </a:t>
            </a:r>
            <a:r>
              <a:rPr dirty="0" err="1"/>
              <a:t>유동성</a:t>
            </a:r>
            <a:r>
              <a:rPr dirty="0"/>
              <a:t> 풀 </a:t>
            </a:r>
            <a:r>
              <a:rPr dirty="0" err="1"/>
              <a:t>확정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• 3단계: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포트폴리오</a:t>
            </a:r>
            <a:r>
              <a:rPr dirty="0"/>
              <a:t> 10개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</a:t>
            </a:r>
            <a:r>
              <a:rPr dirty="0" err="1"/>
              <a:t>압축</a:t>
            </a:r>
            <a:endParaRPr dirty="0"/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rPr dirty="0"/>
              <a:t>3,175개 중 PER+PBR </a:t>
            </a:r>
            <a:r>
              <a:rPr dirty="0" err="1"/>
              <a:t>결합</a:t>
            </a:r>
            <a:r>
              <a:rPr dirty="0"/>
              <a:t> </a:t>
            </a:r>
            <a:r>
              <a:rPr dirty="0" err="1"/>
              <a:t>랭킹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9개 </a:t>
            </a:r>
            <a:r>
              <a:rPr dirty="0" err="1"/>
              <a:t>주식</a:t>
            </a:r>
            <a:r>
              <a:rPr dirty="0"/>
              <a:t> </a:t>
            </a:r>
            <a:r>
              <a:rPr dirty="0" err="1"/>
              <a:t>선별</a:t>
            </a:r>
            <a:r>
              <a:rPr dirty="0"/>
              <a:t> + </a:t>
            </a:r>
            <a:r>
              <a:rPr dirty="0" err="1"/>
              <a:t>현금</a:t>
            </a:r>
            <a:r>
              <a:rPr dirty="0"/>
              <a:t> 10% </a:t>
            </a:r>
            <a:r>
              <a:rPr dirty="0" err="1"/>
              <a:t>버퍼</a:t>
            </a:r>
            <a:r>
              <a:rPr dirty="0"/>
              <a:t> </a:t>
            </a:r>
            <a:r>
              <a:rPr dirty="0" err="1"/>
              <a:t>편입</a:t>
            </a:r>
            <a:r>
              <a:rPr dirty="0"/>
              <a:t>. 총 10개 </a:t>
            </a:r>
            <a:r>
              <a:rPr dirty="0" err="1"/>
              <a:t>자산으로</a:t>
            </a:r>
            <a:r>
              <a:rPr dirty="0"/>
              <a:t> </a:t>
            </a:r>
            <a:r>
              <a:rPr dirty="0" err="1"/>
              <a:t>완벽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 </a:t>
            </a:r>
            <a:r>
              <a:rPr dirty="0" err="1"/>
              <a:t>운용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현금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(MMF) </a:t>
            </a:r>
            <a:r>
              <a:rPr dirty="0" err="1"/>
              <a:t>수익률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rPr dirty="0" err="1"/>
              <a:t>유휴</a:t>
            </a:r>
            <a:r>
              <a:rPr dirty="0"/>
              <a:t> </a:t>
            </a:r>
            <a:r>
              <a:rPr dirty="0" err="1"/>
              <a:t>현금</a:t>
            </a:r>
            <a:r>
              <a:rPr dirty="0"/>
              <a:t> 및 10%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현금</a:t>
            </a:r>
            <a:r>
              <a:rPr dirty="0"/>
              <a:t> </a:t>
            </a:r>
            <a:r>
              <a:rPr dirty="0" err="1"/>
              <a:t>비중에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</a:t>
            </a:r>
            <a:r>
              <a:rPr dirty="0" err="1"/>
              <a:t>미국</a:t>
            </a:r>
            <a:r>
              <a:rPr dirty="0"/>
              <a:t> </a:t>
            </a:r>
            <a:r>
              <a:rPr dirty="0" err="1"/>
              <a:t>단기</a:t>
            </a:r>
            <a:r>
              <a:rPr dirty="0"/>
              <a:t> MMF </a:t>
            </a:r>
            <a:r>
              <a:rPr dirty="0" err="1"/>
              <a:t>금리</a:t>
            </a:r>
            <a:r>
              <a:rPr dirty="0"/>
              <a:t> 연 4.0% </a:t>
            </a:r>
            <a:r>
              <a:rPr dirty="0" err="1"/>
              <a:t>이자</a:t>
            </a:r>
            <a:r>
              <a:rPr dirty="0"/>
              <a:t> </a:t>
            </a:r>
            <a:r>
              <a:rPr dirty="0" err="1"/>
              <a:t>수익을</a:t>
            </a:r>
            <a:r>
              <a:rPr dirty="0"/>
              <a:t> </a:t>
            </a:r>
            <a:r>
              <a:rPr dirty="0" err="1"/>
              <a:t>매일</a:t>
            </a:r>
            <a:r>
              <a:rPr dirty="0"/>
              <a:t> </a:t>
            </a:r>
            <a:r>
              <a:rPr dirty="0" err="1"/>
              <a:t>일할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복리</a:t>
            </a:r>
            <a:r>
              <a:rPr dirty="0"/>
              <a:t> </a:t>
            </a:r>
            <a:r>
              <a:rPr dirty="0" err="1"/>
              <a:t>반영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rPr dirty="0" err="1"/>
              <a:t>자산</a:t>
            </a:r>
            <a:r>
              <a:rPr dirty="0"/>
              <a:t> </a:t>
            </a:r>
            <a:r>
              <a:rPr dirty="0" err="1"/>
              <a:t>배분</a:t>
            </a:r>
            <a:r>
              <a:rPr dirty="0"/>
              <a:t> </a:t>
            </a:r>
            <a:r>
              <a:rPr dirty="0" err="1"/>
              <a:t>비율</a:t>
            </a:r>
            <a:endParaRPr dirty="0"/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rPr dirty="0" err="1"/>
              <a:t>주식</a:t>
            </a:r>
            <a:r>
              <a:rPr dirty="0"/>
              <a:t> 90% + </a:t>
            </a:r>
            <a:r>
              <a:rPr dirty="0" err="1"/>
              <a:t>현금</a:t>
            </a:r>
            <a:r>
              <a:rPr dirty="0"/>
              <a:t>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rPr dirty="0" err="1"/>
              <a:t>선정된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9개 </a:t>
            </a:r>
            <a:r>
              <a:rPr dirty="0" err="1"/>
              <a:t>주식</a:t>
            </a:r>
            <a:r>
              <a:rPr dirty="0"/>
              <a:t> 각 10% </a:t>
            </a:r>
            <a:r>
              <a:rPr dirty="0" err="1"/>
              <a:t>동일비중</a:t>
            </a:r>
            <a:r>
              <a:rPr dirty="0"/>
              <a:t> </a:t>
            </a:r>
            <a:r>
              <a:rPr dirty="0" err="1"/>
              <a:t>배분</a:t>
            </a:r>
            <a:br>
              <a:rPr dirty="0"/>
            </a:br>
            <a:r>
              <a:rPr dirty="0" err="1"/>
              <a:t>현금</a:t>
            </a:r>
            <a:r>
              <a:rPr dirty="0"/>
              <a:t> 10% </a:t>
            </a:r>
            <a:r>
              <a:rPr dirty="0" err="1"/>
              <a:t>항시</a:t>
            </a:r>
            <a:r>
              <a:rPr dirty="0"/>
              <a:t> </a:t>
            </a:r>
            <a:r>
              <a:rPr dirty="0" err="1"/>
              <a:t>유지로</a:t>
            </a:r>
            <a:r>
              <a:rPr dirty="0"/>
              <a:t> </a:t>
            </a:r>
            <a:r>
              <a:rPr dirty="0" err="1"/>
              <a:t>하방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완충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전술적 중간 매매(Tactical Trading) 및 손절 로직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RSI 오실레이터 기반 분할 익절/과매도 매수 및 -10% 하방 방어 Stop-Loss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과매수 분할 매도</a:t>
            </a:r>
            <a:br/>
            <a:r>
              <a:t>(SHORT_SELL)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조건: RSI(14) &gt; 70 돌파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수량의 50% 분할 익절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보유 중인 주식이 과열권에 진입할 경우 절반을 익절하여 현금 확보</a:t>
            </a:r>
            <a:br/>
            <a:r>
              <a:t>• 잔여 50%는 추가 상승 추세를 추종하여 수익 극대화</a:t>
            </a:r>
            <a:br/>
            <a:r>
              <a:t>• 본 백테스트 중 총 646건 발동되어 현금 유동성 공급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과매도 저점 매수</a:t>
            </a:r>
            <a:br/>
            <a:r>
              <a:t>(SHORT_BUY)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조건: RSI(14) &lt; 20 진입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가용 현금의 50% 분할 매수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유니버스 종목이 단기 과매도 투매를 겪을 때 역발상 저점 진입</a:t>
            </a:r>
            <a:br/>
            <a:r>
              <a:t>• 주식 총 비중 한도(90%) 및 현금 룸 내에서만 신중하게 집행</a:t>
            </a:r>
            <a:br/>
            <a:r>
              <a:t>• 본 백테스트 중 총 397건 발동, 진입 후 20일 평균 +1.78% 알파 창출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회전율 억제 쿨다운</a:t>
            </a:r>
            <a:br/>
            <a:r>
              <a:t>(Cooldown Rule)</a:t>
            </a:r>
          </a:p>
          <a:p>
            <a:pPr>
              <a:spcBef>
                <a:spcPts val="600"/>
              </a:spcBef>
              <a:defRPr sz="1000" b="1">
                <a:solidFill>
                  <a:srgbClr val="D97706"/>
                </a:solidFill>
              </a:defRPr>
            </a:pPr>
            <a:r>
              <a:t>조건: 동일 종목 10일 재진입 제한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잦은 휩소(Whipsaw) 방지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단기 매매 직후 최소 10영업일 동안 동일 종목 재매수를 금지</a:t>
            </a:r>
            <a:br/>
            <a:r>
              <a:t>• 2023년 파라미터 스위프 결과 5일 대비 10일 설정이 거래 수수료를 대폭 절감하고 Sharpe 비율을 개선함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구조적 손절매 필터</a:t>
            </a:r>
            <a:br/>
            <a:r>
              <a:t>(SHORT_STOP)</a:t>
            </a:r>
          </a:p>
          <a:p>
            <a:pPr>
              <a:spcBef>
                <a:spcPts val="600"/>
              </a:spcBef>
              <a:defRPr sz="1000" b="1">
                <a:solidFill>
                  <a:srgbClr val="EF4444"/>
                </a:solidFill>
              </a:defRPr>
            </a:pPr>
            <a:r>
              <a:t>조건: 매입 평단 대비 -10% 도달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 100% 전량 강제 손절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손절 없는 가치 전략의 치명적 함정(최대 -86.6% 방치) 원천 차단</a:t>
            </a:r>
            <a:br/>
            <a:r>
              <a:t>• 평단가(Avg Cost) 대비 10% 이상 하락 즉시 전량 청산</a:t>
            </a:r>
            <a:br/>
            <a:r>
              <a:t>• 총 199건 발동, 최대 손실 종목을 -4.6천만 원 선에서 완벽 방어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과적합(Overfitting) 방지를 위한 2단계 검증 체계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2023년 개발/탐색 실험(In-Sample) → 2024~2025년 본 백테스팅(Out-of-Sample)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PHASE 1. 2023년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스위프</a:t>
            </a:r>
            <a:endParaRPr dirty="0"/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목적</a:t>
            </a:r>
            <a:r>
              <a:rPr dirty="0"/>
              <a:t> 및 </a:t>
            </a:r>
            <a:r>
              <a:rPr dirty="0" err="1"/>
              <a:t>규약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2022-12-31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데이터로만</a:t>
            </a:r>
            <a:r>
              <a:rPr dirty="0"/>
              <a:t> </a:t>
            </a:r>
            <a:r>
              <a:rPr lang="ko-KR" altLang="en-US" dirty="0"/>
              <a:t>지표 튜닝 </a:t>
            </a:r>
            <a:r>
              <a:rPr dirty="0" err="1"/>
              <a:t>가설</a:t>
            </a:r>
            <a:r>
              <a:rPr dirty="0"/>
              <a:t> </a:t>
            </a:r>
            <a:r>
              <a:rPr dirty="0" err="1"/>
              <a:t>수립</a:t>
            </a:r>
            <a:r>
              <a:rPr dirty="0"/>
              <a:t> 후 2023년 </a:t>
            </a:r>
            <a:r>
              <a:rPr dirty="0" err="1"/>
              <a:t>구간에서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(</a:t>
            </a:r>
            <a:r>
              <a:rPr dirty="0" err="1"/>
              <a:t>산출</a:t>
            </a:r>
            <a:r>
              <a:rPr dirty="0"/>
              <a:t> </a:t>
            </a:r>
            <a:r>
              <a:rPr dirty="0" err="1"/>
              <a:t>폴더</a:t>
            </a:r>
            <a:r>
              <a:rPr dirty="0"/>
              <a:t>: </a:t>
            </a:r>
            <a:r>
              <a:rPr dirty="0" err="1"/>
              <a:t>outputs_exp</a:t>
            </a:r>
            <a:r>
              <a:rPr dirty="0"/>
              <a:t>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신호</a:t>
            </a:r>
            <a:r>
              <a:rPr dirty="0"/>
              <a:t> 3종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실험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• RSI(25/65): CAGR 7.6%, Sharpe 0.63</a:t>
            </a:r>
            <a:br>
              <a:rPr dirty="0"/>
            </a:br>
            <a:r>
              <a:rPr dirty="0"/>
              <a:t>• MACD </a:t>
            </a:r>
            <a:r>
              <a:rPr dirty="0" err="1"/>
              <a:t>전환</a:t>
            </a:r>
            <a:r>
              <a:rPr dirty="0"/>
              <a:t>: CAGR 6.5%, Sharpe 0.55</a:t>
            </a:r>
            <a:br>
              <a:rPr dirty="0"/>
            </a:br>
            <a:r>
              <a:rPr dirty="0"/>
              <a:t>• Bollinger Bands: CAGR 7.5%, Sharpe 0.59</a:t>
            </a:r>
            <a:br>
              <a:rPr dirty="0"/>
            </a:br>
            <a:r>
              <a:rPr dirty="0"/>
              <a:t>→ RSI </a:t>
            </a:r>
            <a:r>
              <a:rPr dirty="0" err="1"/>
              <a:t>모멘텀의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창출력</a:t>
            </a:r>
            <a:r>
              <a:rPr dirty="0"/>
              <a:t> 및 </a:t>
            </a:r>
            <a:r>
              <a:rPr dirty="0" err="1"/>
              <a:t>반응성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RSI </a:t>
            </a:r>
            <a:r>
              <a:rPr dirty="0" err="1"/>
              <a:t>임계값</a:t>
            </a:r>
            <a:r>
              <a:rPr dirty="0"/>
              <a:t> &amp; </a:t>
            </a:r>
            <a:r>
              <a:rPr dirty="0" err="1"/>
              <a:t>쿨다운</a:t>
            </a:r>
            <a:r>
              <a:rPr dirty="0"/>
              <a:t> </a:t>
            </a:r>
            <a:r>
              <a:rPr dirty="0" err="1"/>
              <a:t>스위프</a:t>
            </a:r>
            <a:r>
              <a:rPr dirty="0"/>
              <a:t> (7개 안)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A안</a:t>
            </a:r>
            <a:r>
              <a:rPr dirty="0"/>
              <a:t>(30/70): 60.8% (</a:t>
            </a:r>
            <a:r>
              <a:rPr dirty="0" err="1"/>
              <a:t>강세장</a:t>
            </a:r>
            <a:r>
              <a:rPr dirty="0"/>
              <a:t>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의심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C안</a:t>
            </a:r>
            <a:r>
              <a:rPr dirty="0"/>
              <a:t>(20/70, 쿨다운10): 30.9%, Sharpe 1.15 (</a:t>
            </a:r>
            <a:r>
              <a:rPr dirty="0" err="1"/>
              <a:t>저회전</a:t>
            </a:r>
            <a:r>
              <a:rPr dirty="0"/>
              <a:t> </a:t>
            </a:r>
            <a:r>
              <a:rPr dirty="0" err="1"/>
              <a:t>우수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손절매</a:t>
            </a:r>
            <a:r>
              <a:rPr dirty="0"/>
              <a:t> </a:t>
            </a:r>
            <a:r>
              <a:rPr dirty="0" err="1"/>
              <a:t>K안</a:t>
            </a:r>
            <a:r>
              <a:rPr dirty="0"/>
              <a:t>(Stop-loss 10%): 40.8%, Sharpe 1.41로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교훈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2023년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강세장에서만</a:t>
            </a:r>
            <a:r>
              <a:rPr dirty="0"/>
              <a:t> </a:t>
            </a:r>
            <a:r>
              <a:rPr dirty="0" err="1"/>
              <a:t>작동하는</a:t>
            </a:r>
            <a:r>
              <a:rPr dirty="0"/>
              <a:t> </a:t>
            </a:r>
            <a:r>
              <a:rPr dirty="0" err="1"/>
              <a:t>공격적</a:t>
            </a:r>
            <a:r>
              <a:rPr dirty="0"/>
              <a:t> </a:t>
            </a:r>
            <a:r>
              <a:rPr dirty="0" err="1"/>
              <a:t>파라미터를</a:t>
            </a:r>
            <a:r>
              <a:rPr dirty="0"/>
              <a:t> </a:t>
            </a:r>
            <a:r>
              <a:rPr dirty="0" err="1"/>
              <a:t>배제하고</a:t>
            </a:r>
            <a:r>
              <a:rPr dirty="0"/>
              <a:t>, </a:t>
            </a:r>
            <a:r>
              <a:rPr dirty="0" err="1"/>
              <a:t>하방</a:t>
            </a:r>
            <a:r>
              <a:rPr dirty="0"/>
              <a:t> </a:t>
            </a:r>
            <a:r>
              <a:rPr dirty="0" err="1"/>
              <a:t>리스크가</a:t>
            </a:r>
            <a:r>
              <a:rPr dirty="0"/>
              <a:t> </a:t>
            </a:r>
            <a:r>
              <a:rPr dirty="0" err="1"/>
              <a:t>통제되는</a:t>
            </a:r>
            <a:r>
              <a:rPr dirty="0"/>
              <a:t> </a:t>
            </a:r>
            <a:r>
              <a:rPr dirty="0" err="1"/>
              <a:t>K안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낙점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245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PHASE 2. 2024~2025년 본 </a:t>
            </a:r>
            <a:r>
              <a:rPr dirty="0" err="1"/>
              <a:t>백테스트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표본외</a:t>
            </a:r>
            <a:r>
              <a:rPr dirty="0"/>
              <a:t>(Out-of-Sample) </a:t>
            </a:r>
            <a:r>
              <a:rPr dirty="0" err="1"/>
              <a:t>무결성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2023년 </a:t>
            </a:r>
            <a:r>
              <a:rPr dirty="0" err="1"/>
              <a:t>확정된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(</a:t>
            </a:r>
            <a:r>
              <a:rPr dirty="0" err="1"/>
              <a:t>K안</a:t>
            </a:r>
            <a:r>
              <a:rPr dirty="0"/>
              <a:t>)를 </a:t>
            </a:r>
            <a:r>
              <a:rPr dirty="0" err="1"/>
              <a:t>일체</a:t>
            </a:r>
            <a:r>
              <a:rPr dirty="0"/>
              <a:t> </a:t>
            </a:r>
            <a:r>
              <a:rPr dirty="0" err="1"/>
              <a:t>변경하지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2024.01.01 ~ 2025.12.31 </a:t>
            </a:r>
            <a:r>
              <a:rPr dirty="0" err="1"/>
              <a:t>구간에</a:t>
            </a:r>
            <a:r>
              <a:rPr dirty="0"/>
              <a:t> </a:t>
            </a:r>
            <a:r>
              <a:rPr dirty="0" err="1"/>
              <a:t>직결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뒷북</a:t>
            </a:r>
            <a:r>
              <a:rPr dirty="0"/>
              <a:t>(Hindsight Bias)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차단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본 </a:t>
            </a:r>
            <a:r>
              <a:rPr dirty="0" err="1"/>
              <a:t>구간의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거꾸로</a:t>
            </a:r>
            <a:r>
              <a:rPr dirty="0"/>
              <a:t> </a:t>
            </a:r>
            <a:r>
              <a:rPr dirty="0" err="1"/>
              <a:t>수정하는</a:t>
            </a:r>
            <a:r>
              <a:rPr dirty="0"/>
              <a:t> </a:t>
            </a:r>
            <a:r>
              <a:rPr dirty="0" err="1"/>
              <a:t>사후</a:t>
            </a:r>
            <a:r>
              <a:rPr dirty="0"/>
              <a:t>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행위</a:t>
            </a:r>
            <a:r>
              <a:rPr dirty="0"/>
              <a:t> </a:t>
            </a:r>
            <a:r>
              <a:rPr dirty="0" err="1"/>
              <a:t>완전</a:t>
            </a:r>
            <a:r>
              <a:rPr dirty="0"/>
              <a:t> </a:t>
            </a:r>
            <a:r>
              <a:rPr dirty="0" err="1"/>
              <a:t>배제</a:t>
            </a:r>
            <a:r>
              <a:rPr dirty="0"/>
              <a:t>. (</a:t>
            </a:r>
            <a:r>
              <a:rPr dirty="0" err="1"/>
              <a:t>산출</a:t>
            </a:r>
            <a:r>
              <a:rPr dirty="0"/>
              <a:t> </a:t>
            </a:r>
            <a:r>
              <a:rPr dirty="0" err="1"/>
              <a:t>폴더</a:t>
            </a:r>
            <a:r>
              <a:rPr dirty="0"/>
              <a:t>: </a:t>
            </a:r>
            <a:r>
              <a:rPr dirty="0" err="1"/>
              <a:t>outputs_final_pool_k</a:t>
            </a:r>
            <a:r>
              <a:rPr dirty="0"/>
              <a:t>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양 </a:t>
            </a:r>
            <a:r>
              <a:rPr dirty="0" err="1"/>
              <a:t>기간</a:t>
            </a:r>
            <a:r>
              <a:rPr dirty="0"/>
              <a:t> </a:t>
            </a:r>
            <a:r>
              <a:rPr dirty="0" err="1"/>
              <a:t>연속</a:t>
            </a:r>
            <a:r>
              <a:rPr dirty="0"/>
              <a:t> </a:t>
            </a:r>
            <a:r>
              <a:rPr dirty="0" err="1"/>
              <a:t>초과수익</a:t>
            </a:r>
            <a:r>
              <a:rPr dirty="0"/>
              <a:t> </a:t>
            </a:r>
            <a:r>
              <a:rPr dirty="0" err="1"/>
              <a:t>입증</a:t>
            </a:r>
            <a:r>
              <a:rPr dirty="0"/>
              <a:t> (Robustness)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 err="1"/>
              <a:t>과적합된</a:t>
            </a:r>
            <a:r>
              <a:rPr dirty="0"/>
              <a:t> </a:t>
            </a:r>
            <a:r>
              <a:rPr dirty="0" err="1"/>
              <a:t>A안은</a:t>
            </a:r>
            <a:r>
              <a:rPr dirty="0"/>
              <a:t> 2024~2025년에 2.2%로 </a:t>
            </a:r>
            <a:r>
              <a:rPr dirty="0" err="1"/>
              <a:t>무너졌으나</a:t>
            </a:r>
            <a:r>
              <a:rPr dirty="0"/>
              <a:t>,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통제형</a:t>
            </a:r>
            <a:r>
              <a:rPr dirty="0"/>
              <a:t> </a:t>
            </a:r>
            <a:r>
              <a:rPr dirty="0" err="1"/>
              <a:t>K안은</a:t>
            </a:r>
            <a:r>
              <a:rPr dirty="0"/>
              <a:t> </a:t>
            </a:r>
            <a:r>
              <a:rPr dirty="0" err="1"/>
              <a:t>본선에서</a:t>
            </a:r>
            <a:r>
              <a:rPr dirty="0"/>
              <a:t> CAGR 42.6%를 </a:t>
            </a:r>
            <a:r>
              <a:rPr dirty="0" err="1"/>
              <a:t>달성하며</a:t>
            </a:r>
            <a:r>
              <a:rPr dirty="0"/>
              <a:t> </a:t>
            </a:r>
            <a:r>
              <a:rPr dirty="0" err="1"/>
              <a:t>진정한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입증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Stop-Loss 10%의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진가</a:t>
            </a:r>
            <a:r>
              <a:rPr dirty="0"/>
              <a:t> </a:t>
            </a:r>
            <a:r>
              <a:rPr dirty="0" err="1"/>
              <a:t>발휘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2024년 4월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하락기에서</a:t>
            </a:r>
            <a:r>
              <a:rPr dirty="0"/>
              <a:t> 199건의 </a:t>
            </a:r>
            <a:r>
              <a:rPr dirty="0" err="1"/>
              <a:t>선제적</a:t>
            </a:r>
            <a:r>
              <a:rPr dirty="0"/>
              <a:t> </a:t>
            </a:r>
            <a:r>
              <a:rPr dirty="0" err="1"/>
              <a:t>손절매가</a:t>
            </a:r>
            <a:r>
              <a:rPr dirty="0"/>
              <a:t> </a:t>
            </a:r>
            <a:r>
              <a:rPr dirty="0" err="1"/>
              <a:t>발동하여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종목의</a:t>
            </a:r>
            <a:r>
              <a:rPr dirty="0"/>
              <a:t> </a:t>
            </a:r>
            <a:r>
              <a:rPr dirty="0" err="1"/>
              <a:t>괴멸적</a:t>
            </a:r>
            <a:r>
              <a:rPr dirty="0"/>
              <a:t> </a:t>
            </a:r>
            <a:r>
              <a:rPr dirty="0" err="1"/>
              <a:t>폭락</a:t>
            </a:r>
            <a:r>
              <a:rPr dirty="0"/>
              <a:t>(-86%)을 </a:t>
            </a:r>
            <a:r>
              <a:rPr dirty="0" err="1"/>
              <a:t>완벽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■ </a:t>
            </a:r>
            <a:r>
              <a:rPr dirty="0" err="1"/>
              <a:t>자본금</a:t>
            </a:r>
            <a:r>
              <a:rPr dirty="0"/>
              <a:t> </a:t>
            </a:r>
            <a:r>
              <a:rPr dirty="0" err="1"/>
              <a:t>운용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투입</a:t>
            </a:r>
            <a:r>
              <a:rPr dirty="0"/>
              <a:t> </a:t>
            </a:r>
            <a:r>
              <a:rPr dirty="0" err="1"/>
              <a:t>원금</a:t>
            </a:r>
            <a:r>
              <a:rPr dirty="0"/>
              <a:t>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순수익</a:t>
            </a:r>
            <a:r>
              <a:rPr dirty="0"/>
              <a:t> </a:t>
            </a:r>
            <a:r>
              <a:rPr dirty="0" err="1"/>
              <a:t>금액</a:t>
            </a:r>
            <a:r>
              <a:rPr dirty="0"/>
              <a:t> (Net </a:t>
            </a:r>
            <a:r>
              <a:rPr dirty="0" err="1"/>
              <a:t>PnL</a:t>
            </a:r>
            <a:r>
              <a:rPr dirty="0"/>
              <a:t>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총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건수</a:t>
            </a:r>
            <a:r>
              <a:rPr dirty="0"/>
              <a:t>: 1,800 건 (</a:t>
            </a:r>
            <a:r>
              <a:rPr dirty="0" err="1"/>
              <a:t>일평균</a:t>
            </a:r>
            <a:r>
              <a:rPr dirty="0"/>
              <a:t>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수수료</a:t>
            </a:r>
            <a:r>
              <a:rPr dirty="0"/>
              <a:t>: 93,918,484 원 (</a:t>
            </a:r>
            <a:r>
              <a:rPr dirty="0" err="1"/>
              <a:t>원금의</a:t>
            </a:r>
            <a:r>
              <a:rPr dirty="0"/>
              <a:t>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차감</a:t>
            </a:r>
            <a:r>
              <a:rPr dirty="0"/>
              <a:t> 전 </a:t>
            </a:r>
            <a:r>
              <a:rPr dirty="0" err="1"/>
              <a:t>수익률</a:t>
            </a:r>
            <a:r>
              <a:rPr dirty="0"/>
              <a:t>: +112.24% (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차감</a:t>
            </a:r>
            <a:r>
              <a:rPr dirty="0"/>
              <a:t>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월간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/ </a:t>
            </a:r>
            <a:r>
              <a:rPr dirty="0" err="1"/>
              <a:t>최악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+17.17% (25.11) / -9.55% (24.04)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1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월별</a:t>
            </a:r>
            <a:r>
              <a:rPr dirty="0"/>
              <a:t> </a:t>
            </a:r>
            <a:r>
              <a:rPr dirty="0" err="1"/>
              <a:t>수익</a:t>
            </a:r>
            <a:r>
              <a:rPr lang="ko-KR" altLang="en-US" dirty="0" err="1"/>
              <a:t>률</a:t>
            </a:r>
            <a:r>
              <a:rPr dirty="0"/>
              <a:t> </a:t>
            </a:r>
            <a:r>
              <a:rPr dirty="0" err="1"/>
              <a:t>분포</a:t>
            </a:r>
            <a:r>
              <a:rPr dirty="0"/>
              <a:t> 및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사유별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dirty="0"/>
              <a:t>23개월 중 17개월 </a:t>
            </a:r>
            <a:r>
              <a:rPr dirty="0" err="1"/>
              <a:t>플러스</a:t>
            </a:r>
            <a:r>
              <a:rPr dirty="0"/>
              <a:t>(</a:t>
            </a:r>
            <a:r>
              <a:rPr dirty="0" err="1"/>
              <a:t>승률</a:t>
            </a:r>
            <a:r>
              <a:rPr dirty="0"/>
              <a:t> 73.9%) 및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전술</a:t>
            </a:r>
            <a:r>
              <a:rPr dirty="0"/>
              <a:t> </a:t>
            </a:r>
            <a:r>
              <a:rPr dirty="0" err="1"/>
              <a:t>주문과</a:t>
            </a:r>
            <a:r>
              <a:rPr dirty="0"/>
              <a:t> </a:t>
            </a:r>
            <a:r>
              <a:rPr dirty="0" err="1"/>
              <a:t>리밸런싱의</a:t>
            </a:r>
            <a:r>
              <a:rPr dirty="0"/>
              <a:t> </a:t>
            </a:r>
            <a:r>
              <a:rPr dirty="0" err="1"/>
              <a:t>조화</a:t>
            </a:r>
            <a:endParaRPr dirty="0"/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rPr dirty="0"/>
              <a:t>■ 총 1,800건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분포</a:t>
            </a:r>
            <a:endParaRPr dirty="0"/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단기</a:t>
            </a:r>
            <a:r>
              <a:rPr dirty="0"/>
              <a:t> RSI </a:t>
            </a:r>
            <a:r>
              <a:rPr dirty="0" err="1"/>
              <a:t>매도</a:t>
            </a:r>
            <a:r>
              <a:rPr dirty="0"/>
              <a:t> (SHORT_SELL): 646건 (35.9%) - </a:t>
            </a:r>
            <a:r>
              <a:rPr dirty="0" err="1"/>
              <a:t>과열권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익절</a:t>
            </a:r>
            <a:br>
              <a:rPr dirty="0"/>
            </a:br>
            <a:r>
              <a:rPr dirty="0"/>
              <a:t>• </a:t>
            </a:r>
            <a:r>
              <a:rPr dirty="0" err="1"/>
              <a:t>정기</a:t>
            </a:r>
            <a:r>
              <a:rPr dirty="0"/>
              <a:t> </a:t>
            </a:r>
            <a:r>
              <a:rPr dirty="0" err="1"/>
              <a:t>리밸런싱</a:t>
            </a:r>
            <a:r>
              <a:rPr dirty="0"/>
              <a:t> (REBALANCE): 549건 (30.5%) - 2주 </a:t>
            </a:r>
            <a:r>
              <a:rPr dirty="0" err="1"/>
              <a:t>주기</a:t>
            </a:r>
            <a:r>
              <a:rPr dirty="0"/>
              <a:t> </a:t>
            </a:r>
            <a:r>
              <a:rPr dirty="0" err="1"/>
              <a:t>포트폴리오</a:t>
            </a:r>
            <a:r>
              <a:rPr dirty="0"/>
              <a:t> </a:t>
            </a:r>
            <a:r>
              <a:rPr dirty="0" err="1"/>
              <a:t>교체</a:t>
            </a:r>
            <a:br>
              <a:rPr dirty="0"/>
            </a:br>
            <a:r>
              <a:rPr dirty="0"/>
              <a:t>• </a:t>
            </a:r>
            <a:r>
              <a:rPr dirty="0" err="1"/>
              <a:t>단기</a:t>
            </a:r>
            <a:r>
              <a:rPr dirty="0"/>
              <a:t> RSI </a:t>
            </a:r>
            <a:r>
              <a:rPr dirty="0" err="1"/>
              <a:t>매수</a:t>
            </a:r>
            <a:r>
              <a:rPr dirty="0"/>
              <a:t> (SHORT_BUY): 397건 (22.1%) - </a:t>
            </a:r>
            <a:r>
              <a:rPr dirty="0" err="1"/>
              <a:t>과매도</a:t>
            </a:r>
            <a:r>
              <a:rPr dirty="0"/>
              <a:t> </a:t>
            </a:r>
            <a:r>
              <a:rPr dirty="0" err="1"/>
              <a:t>역발상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• </a:t>
            </a:r>
            <a:r>
              <a:rPr dirty="0" err="1"/>
              <a:t>손절매</a:t>
            </a:r>
            <a:r>
              <a:rPr dirty="0"/>
              <a:t> </a:t>
            </a:r>
            <a:r>
              <a:rPr dirty="0" err="1"/>
              <a:t>청산</a:t>
            </a:r>
            <a:r>
              <a:rPr dirty="0"/>
              <a:t> (SHORT_STOP): 199건 (11.1%) - </a:t>
            </a:r>
            <a:r>
              <a:rPr dirty="0" err="1"/>
              <a:t>평단가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-10%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손절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소스코드 아키텍처 및 AI 프롬프트 엔지니어링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prompts/AI프롬프트모음.md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rPr dirty="0"/>
              <a:t>■ AI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엔지니어링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(P0 ~ P13)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dirty="0"/>
              <a:t>• P0.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기준선</a:t>
            </a:r>
            <a:r>
              <a:rPr dirty="0"/>
              <a:t> </a:t>
            </a:r>
            <a:r>
              <a:rPr dirty="0" err="1"/>
              <a:t>지침</a:t>
            </a:r>
            <a:r>
              <a:rPr dirty="0"/>
              <a:t> (</a:t>
            </a:r>
            <a:r>
              <a:rPr dirty="0" err="1"/>
              <a:t>핵심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rPr dirty="0" err="1"/>
              <a:t>백테스트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(24~25) </a:t>
            </a:r>
            <a:r>
              <a:rPr dirty="0" err="1"/>
              <a:t>이전인</a:t>
            </a:r>
            <a:r>
              <a:rPr dirty="0"/>
              <a:t> 2023-12-31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데이터만</a:t>
            </a:r>
            <a:r>
              <a:rPr dirty="0"/>
              <a:t> </a:t>
            </a:r>
            <a:r>
              <a:rPr dirty="0" err="1"/>
              <a:t>사용하도록</a:t>
            </a:r>
            <a:r>
              <a:rPr dirty="0"/>
              <a:t>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레벨에서</a:t>
            </a:r>
            <a:r>
              <a:rPr dirty="0"/>
              <a:t> Look-Ahead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dirty="0"/>
              <a:t>• P1 ~ P3. </a:t>
            </a:r>
            <a:r>
              <a:rPr dirty="0" err="1"/>
              <a:t>모듈형</a:t>
            </a:r>
            <a:r>
              <a:rPr dirty="0"/>
              <a:t> </a:t>
            </a:r>
            <a:r>
              <a:rPr dirty="0" err="1"/>
              <a:t>백테스트</a:t>
            </a:r>
            <a:r>
              <a:rPr dirty="0"/>
              <a:t> </a:t>
            </a:r>
            <a:r>
              <a:rPr dirty="0" err="1"/>
              <a:t>엔진</a:t>
            </a:r>
            <a:endParaRPr dirty="0"/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(</a:t>
            </a:r>
            <a:r>
              <a:rPr dirty="0" err="1"/>
              <a:t>config.yaml</a:t>
            </a:r>
            <a:r>
              <a:rPr dirty="0"/>
              <a:t>) </a:t>
            </a:r>
            <a:r>
              <a:rPr dirty="0" err="1"/>
              <a:t>재현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동적</a:t>
            </a:r>
            <a:r>
              <a:rPr dirty="0"/>
              <a:t> PER </a:t>
            </a:r>
            <a:r>
              <a:rPr dirty="0" err="1"/>
              <a:t>랭킹</a:t>
            </a:r>
            <a:r>
              <a:rPr dirty="0"/>
              <a:t> </a:t>
            </a:r>
            <a:r>
              <a:rPr dirty="0" err="1"/>
              <a:t>산출</a:t>
            </a:r>
            <a:r>
              <a:rPr dirty="0"/>
              <a:t> 및 </a:t>
            </a:r>
            <a:r>
              <a:rPr dirty="0" err="1"/>
              <a:t>자동화된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리포트</a:t>
            </a:r>
            <a:r>
              <a:rPr dirty="0"/>
              <a:t> </a:t>
            </a:r>
            <a:r>
              <a:rPr dirty="0" err="1"/>
              <a:t>뼈대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dirty="0"/>
              <a:t>• P7. </a:t>
            </a:r>
            <a:r>
              <a:rPr dirty="0" err="1"/>
              <a:t>전종목</a:t>
            </a:r>
            <a:r>
              <a:rPr dirty="0"/>
              <a:t> EDGAR </a:t>
            </a:r>
            <a:r>
              <a:rPr dirty="0" err="1"/>
              <a:t>파이프라인</a:t>
            </a:r>
            <a:endParaRPr dirty="0"/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rPr dirty="0"/>
              <a:t>SEC 10-K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무료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및 </a:t>
            </a:r>
            <a:r>
              <a:rPr dirty="0" err="1"/>
              <a:t>유동성</a:t>
            </a:r>
            <a:r>
              <a:rPr dirty="0"/>
              <a:t> </a:t>
            </a:r>
            <a:r>
              <a:rPr dirty="0" err="1"/>
              <a:t>필터</a:t>
            </a:r>
            <a:r>
              <a:rPr dirty="0"/>
              <a:t>($100만 </a:t>
            </a:r>
            <a:r>
              <a:rPr dirty="0" err="1"/>
              <a:t>이상</a:t>
            </a:r>
            <a:r>
              <a:rPr dirty="0"/>
              <a:t>)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프롬프트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dirty="0"/>
              <a:t>• P8 ~ P11. 2단계 </a:t>
            </a:r>
            <a:r>
              <a:rPr dirty="0" err="1"/>
              <a:t>검증</a:t>
            </a:r>
            <a:r>
              <a:rPr dirty="0"/>
              <a:t> 및 </a:t>
            </a:r>
            <a:r>
              <a:rPr dirty="0" err="1"/>
              <a:t>리포트</a:t>
            </a:r>
            <a:endParaRPr dirty="0"/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rPr dirty="0"/>
              <a:t>2023 </a:t>
            </a:r>
            <a:r>
              <a:rPr dirty="0" err="1"/>
              <a:t>실험</a:t>
            </a:r>
            <a:r>
              <a:rPr dirty="0"/>
              <a:t>/</a:t>
            </a:r>
            <a:r>
              <a:rPr dirty="0" err="1"/>
              <a:t>본선</a:t>
            </a:r>
            <a:r>
              <a:rPr dirty="0"/>
              <a:t> 2단계 </a:t>
            </a:r>
            <a:r>
              <a:rPr dirty="0" err="1"/>
              <a:t>모드</a:t>
            </a:r>
            <a:r>
              <a:rPr dirty="0"/>
              <a:t> </a:t>
            </a:r>
            <a:r>
              <a:rPr dirty="0" err="1"/>
              <a:t>분리</a:t>
            </a:r>
            <a:r>
              <a:rPr dirty="0"/>
              <a:t>, </a:t>
            </a:r>
            <a:r>
              <a:rPr dirty="0" err="1"/>
              <a:t>일별</a:t>
            </a:r>
            <a:r>
              <a:rPr dirty="0"/>
              <a:t> </a:t>
            </a:r>
            <a:r>
              <a:rPr dirty="0" err="1"/>
              <a:t>보유·종목</a:t>
            </a:r>
            <a:r>
              <a:rPr dirty="0"/>
              <a:t> </a:t>
            </a:r>
            <a:r>
              <a:rPr dirty="0" err="1"/>
              <a:t>손익</a:t>
            </a:r>
            <a:r>
              <a:rPr dirty="0"/>
              <a:t>(discovery.csv) 및 </a:t>
            </a:r>
            <a:r>
              <a:rPr dirty="0" err="1"/>
              <a:t>서식화된</a:t>
            </a:r>
            <a:r>
              <a:rPr dirty="0"/>
              <a:t> </a:t>
            </a:r>
            <a:r>
              <a:rPr dirty="0" err="1"/>
              <a:t>엑셀</a:t>
            </a:r>
            <a:r>
              <a:rPr dirty="0"/>
              <a:t>(report.xlsx) </a:t>
            </a:r>
            <a:r>
              <a:rPr dirty="0" err="1"/>
              <a:t>자동화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dirty="0"/>
              <a:t>• S1. 본 </a:t>
            </a:r>
            <a:r>
              <a:rPr dirty="0" err="1"/>
              <a:t>전략</a:t>
            </a:r>
            <a:r>
              <a:rPr dirty="0"/>
              <a:t>(</a:t>
            </a:r>
            <a:r>
              <a:rPr dirty="0" err="1"/>
              <a:t>my_strategy</a:t>
            </a:r>
            <a:r>
              <a:rPr dirty="0"/>
              <a:t>) </a:t>
            </a:r>
            <a:r>
              <a:rPr dirty="0" err="1"/>
              <a:t>진화</a:t>
            </a:r>
            <a:r>
              <a:rPr dirty="0"/>
              <a:t> </a:t>
            </a:r>
            <a:r>
              <a:rPr dirty="0" err="1"/>
              <a:t>일지</a:t>
            </a:r>
            <a:endParaRPr dirty="0"/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rPr dirty="0"/>
              <a:t>v1(스윙50/단기40/현금10) → v2(H&amp;S </a:t>
            </a:r>
            <a:r>
              <a:rPr dirty="0" err="1"/>
              <a:t>면제</a:t>
            </a:r>
            <a:r>
              <a:rPr dirty="0"/>
              <a:t>) → v2.3(</a:t>
            </a:r>
            <a:r>
              <a:rPr dirty="0" err="1"/>
              <a:t>쿨다운</a:t>
            </a:r>
            <a:r>
              <a:rPr dirty="0"/>
              <a:t>) → v2.4(RSI 20/70) → v2.5(Stop-loss 10% </a:t>
            </a:r>
            <a:r>
              <a:rPr dirty="0" err="1"/>
              <a:t>K안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93C5FD"/>
                </a:solidFill>
              </a:defRPr>
            </a:pPr>
            <a:r>
              <a:t>■ src/strategies/my_strategy.py 핵심 로직</a:t>
            </a:r>
          </a:p>
          <a:p>
            <a:pPr>
              <a:spcBef>
                <a:spcPts val="800"/>
              </a:spcBef>
              <a:defRPr sz="819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2. </a:t>
            </a:r>
            <a:r>
              <a:rPr dirty="0" err="1"/>
              <a:t>실전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(Live Trading) </a:t>
            </a:r>
            <a:r>
              <a:rPr dirty="0" err="1"/>
              <a:t>배포</a:t>
            </a:r>
            <a:r>
              <a:rPr dirty="0"/>
              <a:t> 시 </a:t>
            </a:r>
            <a:r>
              <a:rPr dirty="0" err="1"/>
              <a:t>고려사항</a:t>
            </a:r>
            <a:endParaRPr dirty="0"/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유동성</a:t>
            </a:r>
            <a:r>
              <a:rPr dirty="0"/>
              <a:t> 및 </a:t>
            </a:r>
            <a:r>
              <a:rPr dirty="0" err="1"/>
              <a:t>슬리피지</a:t>
            </a:r>
            <a:r>
              <a:rPr dirty="0"/>
              <a:t>(Slippage): </a:t>
            </a:r>
            <a:r>
              <a:rPr dirty="0" err="1"/>
              <a:t>실전</a:t>
            </a:r>
            <a:r>
              <a:rPr dirty="0"/>
              <a:t> </a:t>
            </a:r>
            <a:r>
              <a:rPr dirty="0" err="1"/>
              <a:t>체결</a:t>
            </a:r>
            <a:r>
              <a:rPr dirty="0"/>
              <a:t> 시 </a:t>
            </a:r>
            <a:r>
              <a:rPr dirty="0" err="1"/>
              <a:t>호가</a:t>
            </a:r>
            <a:r>
              <a:rPr dirty="0"/>
              <a:t> </a:t>
            </a:r>
            <a:r>
              <a:rPr dirty="0" err="1"/>
              <a:t>갭과</a:t>
            </a:r>
            <a:r>
              <a:rPr dirty="0"/>
              <a:t> </a:t>
            </a:r>
            <a:r>
              <a:rPr dirty="0" err="1"/>
              <a:t>충격비용</a:t>
            </a:r>
            <a:r>
              <a:rPr dirty="0"/>
              <a:t>(Impact Cost)을 </a:t>
            </a:r>
            <a:r>
              <a:rPr dirty="0" err="1"/>
              <a:t>감안한</a:t>
            </a:r>
            <a:r>
              <a:rPr dirty="0"/>
              <a:t> </a:t>
            </a:r>
            <a:r>
              <a:rPr dirty="0" err="1"/>
              <a:t>지정가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거래비용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: </a:t>
            </a:r>
            <a:r>
              <a:rPr dirty="0" err="1"/>
              <a:t>연간</a:t>
            </a:r>
            <a:r>
              <a:rPr dirty="0"/>
              <a:t> 9.4%에 </a:t>
            </a:r>
            <a:r>
              <a:rPr dirty="0" err="1"/>
              <a:t>달하는</a:t>
            </a:r>
            <a:r>
              <a:rPr dirty="0"/>
              <a:t>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누적을</a:t>
            </a:r>
            <a:r>
              <a:rPr dirty="0"/>
              <a:t> </a:t>
            </a:r>
            <a:r>
              <a:rPr dirty="0" err="1"/>
              <a:t>줄이기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RSI </a:t>
            </a:r>
            <a:r>
              <a:rPr dirty="0" err="1"/>
              <a:t>임계값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 및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매매</a:t>
            </a:r>
            <a:r>
              <a:rPr dirty="0"/>
              <a:t> </a:t>
            </a:r>
            <a:r>
              <a:rPr dirty="0" err="1"/>
              <a:t>대금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공시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: 10-K/10-Q </a:t>
            </a:r>
            <a:r>
              <a:rPr dirty="0" err="1"/>
              <a:t>공시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파싱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증권사</a:t>
            </a:r>
            <a:r>
              <a:rPr dirty="0"/>
              <a:t> Open API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3.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산출물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및 </a:t>
            </a:r>
            <a:r>
              <a:rPr dirty="0" err="1"/>
              <a:t>재현</a:t>
            </a:r>
            <a:r>
              <a:rPr dirty="0"/>
              <a:t> </a:t>
            </a:r>
            <a:r>
              <a:rPr dirty="0" err="1"/>
              <a:t>방법</a:t>
            </a:r>
            <a:endParaRPr dirty="0"/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report.pptx: 본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프레젠테이션</a:t>
            </a:r>
            <a:r>
              <a:rPr dirty="0"/>
              <a:t> (16:9 </a:t>
            </a:r>
            <a:r>
              <a:rPr dirty="0" err="1"/>
              <a:t>와이드스크린</a:t>
            </a:r>
            <a:r>
              <a:rPr dirty="0"/>
              <a:t> </a:t>
            </a:r>
            <a:r>
              <a:rPr dirty="0" err="1"/>
              <a:t>슬라이드</a:t>
            </a:r>
            <a:r>
              <a:rPr dirty="0"/>
              <a:t>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report.xlsx: </a:t>
            </a:r>
            <a:r>
              <a:rPr dirty="0" err="1"/>
              <a:t>날짜</a:t>
            </a:r>
            <a:r>
              <a:rPr dirty="0"/>
              <a:t> </a:t>
            </a:r>
            <a:r>
              <a:rPr dirty="0" err="1"/>
              <a:t>서식</a:t>
            </a:r>
            <a:r>
              <a:rPr dirty="0"/>
              <a:t> 및 </a:t>
            </a:r>
            <a:r>
              <a:rPr dirty="0" err="1"/>
              <a:t>수식이</a:t>
            </a:r>
            <a:r>
              <a:rPr dirty="0"/>
              <a:t> </a:t>
            </a:r>
            <a:r>
              <a:rPr dirty="0" err="1"/>
              <a:t>완비된</a:t>
            </a:r>
            <a:r>
              <a:rPr dirty="0"/>
              <a:t> </a:t>
            </a:r>
            <a:r>
              <a:rPr dirty="0" err="1"/>
              <a:t>엑셀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(</a:t>
            </a:r>
            <a:r>
              <a:rPr dirty="0" err="1"/>
              <a:t>일별보유</a:t>
            </a:r>
            <a:r>
              <a:rPr dirty="0"/>
              <a:t>, </a:t>
            </a:r>
            <a:r>
              <a:rPr dirty="0" err="1"/>
              <a:t>손익</a:t>
            </a:r>
            <a:r>
              <a:rPr dirty="0"/>
              <a:t>, </a:t>
            </a:r>
            <a:r>
              <a:rPr dirty="0" err="1"/>
              <a:t>거래일지</a:t>
            </a:r>
            <a:r>
              <a:rPr dirty="0"/>
              <a:t>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trade_history_view.csv / discovery.csv: 1,800건 </a:t>
            </a:r>
            <a:r>
              <a:rPr dirty="0" err="1"/>
              <a:t>전수</a:t>
            </a:r>
            <a:r>
              <a:rPr dirty="0"/>
              <a:t> </a:t>
            </a:r>
            <a:r>
              <a:rPr dirty="0" err="1"/>
              <a:t>매매</a:t>
            </a:r>
            <a:r>
              <a:rPr dirty="0"/>
              <a:t> </a:t>
            </a:r>
            <a:r>
              <a:rPr dirty="0" err="1"/>
              <a:t>로그</a:t>
            </a:r>
            <a:r>
              <a:rPr dirty="0"/>
              <a:t> 및 345종목 </a:t>
            </a:r>
            <a:r>
              <a:rPr dirty="0" err="1"/>
              <a:t>손익표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코드</a:t>
            </a:r>
            <a:r>
              <a:rPr dirty="0"/>
              <a:t> 및 </a:t>
            </a:r>
            <a:r>
              <a:rPr dirty="0" err="1"/>
              <a:t>프롬프트</a:t>
            </a:r>
            <a:r>
              <a:rPr dirty="0"/>
              <a:t>: </a:t>
            </a:r>
            <a:r>
              <a:rPr dirty="0" err="1"/>
              <a:t>src</a:t>
            </a:r>
            <a:r>
              <a:rPr dirty="0"/>
              <a:t>/ </a:t>
            </a:r>
            <a:r>
              <a:rPr dirty="0" err="1"/>
              <a:t>엔진</a:t>
            </a:r>
            <a:r>
              <a:rPr dirty="0"/>
              <a:t> </a:t>
            </a:r>
            <a:r>
              <a:rPr dirty="0" err="1"/>
              <a:t>소스</a:t>
            </a:r>
            <a:r>
              <a:rPr dirty="0"/>
              <a:t>, </a:t>
            </a:r>
            <a:r>
              <a:rPr dirty="0" err="1"/>
              <a:t>config.yaml</a:t>
            </a:r>
            <a:r>
              <a:rPr dirty="0"/>
              <a:t>, prompts/AI프롬프트모음.md.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4649</Words>
  <Application>Microsoft Office PowerPoint</Application>
  <PresentationFormat>와이드스크린</PresentationFormat>
  <Paragraphs>359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주 질</cp:lastModifiedBy>
  <cp:revision>3</cp:revision>
  <dcterms:created xsi:type="dcterms:W3CDTF">2013-01-27T09:14:16Z</dcterms:created>
  <dcterms:modified xsi:type="dcterms:W3CDTF">2026-10-11T04:21:47Z</dcterms:modified>
  <cp:category/>
</cp:coreProperties>
</file>