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43891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IT신기술 과제 / 퀀트 투자 시스템 백테스팅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동적 리밸런싱 및 전술적 단기 매매</a:t>
            </a:r>
            <a:br/>
            <a:r>
              <a:t>백테스팅 연구 보고서</a:t>
            </a:r>
          </a:p>
          <a:p>
            <a:pPr>
              <a:spcBef>
                <a:spcPts val="1400"/>
              </a:spcBef>
              <a:defRPr sz="1350">
                <a:solidFill>
                  <a:srgbClr val="94A3B8"/>
                </a:solidFill>
              </a:defRPr>
            </a:pPr>
            <a:r>
              <a:t>사용 지표(PER·PBR·RSI·MACD·BB·H&amp;S·Stop-Loss)별 전략 체계화 및 표본외(2024~2025) 복합 알파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9669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백테스팅 기간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2024.01 ~ 2025.12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표본외 2개년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연평균 복리수익률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CAGR 42.58%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B&amp;H (+27.2%) 대비 +75.4%p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최대 낙폭 (MDD)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-17.75%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21일 만에 전고점 신속 회복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위험조정비율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Sharpe 1.39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Sortino 2.32 / Calmar 2.41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5216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분석 대상: AI퀘스트 / outputs_final_pool_k  |  개발 엔진: Python 3.12 퀀트 시스템  |  제출일: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목차 (Contents)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보고서 종합 구성 목차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평가 가이드라인에 맞춘 6대 핵심 영역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276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리밸런싱 전략 세부 설정 사항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유니버스 선정 (미국 3,175개 유동성 풀 &amp; 확정 10-K)</a:t>
            </a:r>
            <a:br/>
            <a:r>
              <a:t>• 포트폴리오 배분 (주식 9개 90% + 현금 MMF 10%)</a:t>
            </a:r>
            <a:br/>
            <a:r>
              <a:t>• 2주 리밸런싱 주기 및 2% 불감대 규칙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6276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전략 사용 지표 체계 및 비교 분석 (★)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지표 분류 체계 (가치, 모멘텀, 추세, 변동성, 손절)</a:t>
            </a:r>
            <a:br/>
            <a:r>
              <a:t>• 기술적 신호 3종 (RSI vs MACD vs BB) 비교 실험</a:t>
            </a:r>
            <a:br/>
            <a:r>
              <a:t>• RSI 임계값 스위프 &amp; 손절률(Stop-Loss) 최적화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32918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278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개발 도구 및 구현 방식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개발 스택: Python 3.12, SEC EDGAR API, Empyrical</a:t>
            </a:r>
            <a:br/>
            <a:r>
              <a:t>• 무결성 보장: Look-Ahead Bias 완전 차단 (2023-12-31 컷오프)</a:t>
            </a:r>
            <a:br/>
            <a:r>
              <a:t>• 2단계 표본외 검증 체계 (2023 개발 실험 → 2024-2025 본선)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0632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32918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2278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백테스팅 성과 및 거래 기록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필수 3대 지표: CAGR 42.6%, B&amp;H 초과 +75.4%p, MDD -17.7%</a:t>
            </a:r>
            <a:br/>
            <a:r>
              <a:t>• 자산 성장 곡선 및 국면별 동적 흐름 분석</a:t>
            </a:r>
            <a:br/>
            <a:r>
              <a:t>• 총 1,800건 매매 로그 발췌 및 종목별 손익 기여도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48920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828031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심층 결과 분석 및 원인 평가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우수 요인: 밸류에이션 결합, 하방 리스크 방어, RSI 알파</a:t>
            </a:r>
            <a:br/>
            <a:r>
              <a:t>• 한계 및 개선과제: 75배 회전율/수수료, 종목 쏠림 리스크</a:t>
            </a:r>
            <a:br/>
            <a:r>
              <a:t>• 2024년 1분기 시장 조정기 심층 원인 진단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48920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828031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개발 코드 및 AI 프롬프트 자료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AI 프롬프트 아키텍처 (P0 시간선 지침 ~ P13 스위프)</a:t>
            </a:r>
            <a:br/>
            <a:r>
              <a:t>• my_strategy.py 핵심 전략 소스코드 구조 및 config.yaml</a:t>
            </a:r>
            <a:br/>
            <a:r>
              <a:t>• 투자사 규격 산출물 연계 (report.xlsx, discovery.csv)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유니버스 풀 및 펀더멘털 데이터 정의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기준: 10개 핵심 자산 (9개 동적 편입 주식 + 1개 현금/MMF 버퍼)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나스닥 기반 3단계 유니버스 선별 파이프라인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1단계: 전체 시장 상장 종목 수집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나스닥 상장 6,239개 중 시세 수신 정상 5,753개 확보 (OTC 잡음 종목 원천 배제).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2단계: 엄격한 유동성 필터링 (Liquidity Filter)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전략 설계 컷오프(2023-12-31) 직전 60영업일 평균 일거래대금 $1,000,000(약 13억 원) 이상 종목만 통과 → 최종 3,175개 유동성 풀 확정.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3단계: 최종 포트폴리오 10개 핵심 자산 압축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3,175개 중 PER+PBR 결합 랭킹 상위 9개 주식 선별 + 현금 10% 버퍼 편입. 총 10개 자산으로 완벽 분산 운용.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현금 자산 (MMF) 수익률 반영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유휴 현금 및 10% 기본 현금 비중에 대해 미국 단기 MMF 금리 연 4.0% 이자 수익을 매일 일할 계산 복리 반영.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Look-Ahead Bias 차단 및 SEC EDGAR 10-K 반영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시간 기준선 엄수 지침 (P0 반영)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백테스트 기간(2024~2025)의 정보를 미래 참조하지 않도록, 모든 재무 데이터는 2023-12-31 이전 확정 공시된 10-K 연례보고서만 채택.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공시 시차 현실화 (Reporting Lag)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12월 결산 법인의 경우 2023년 말 시점 최신 확정 공시는 FY2022 보고서이므로 이를 정상 반영. 결측 종목은 최하위 랭크 처리.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동적 밸류에이션 랭킹 계산 (Dynamic Valuation)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고정 스냅샷의 오류를 방지하기 위해 당일 종가(P_t)와 기준 재무(EPS_0, BPS_0)를 결합하여 일별 동적 PER_t, PBR_t 산출 후 결합 순위 매김.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초기 운용 자본 설정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초기 시드머니: 1,000,000,000원 ($10억 상당). 모든 거래는 일봉 종가 체결 규약 준수.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자산 배분 및 정기 리밸런싱 규칙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가치주 선별(PER+PBR)과 추세 보존(H&amp;S 면제)이 결합된 하이브리드 리밸런싱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자산 배분 비율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주식 90% + 현금 10%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선정된 상위 9개 주식 각 10% 동일비중 배분</a:t>
            </a:r>
            <a:br/>
            <a:r>
              <a:t>현금 10% 항시 유지로 하방 리스크 완충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정기 리밸런싱 주기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2주 (Bi-Weekly, 2W)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10영업일 간격 정기 재평가 및 리밸런싱</a:t>
            </a:r>
            <a:br/>
            <a:r>
              <a:t>매도 후 매수의 2-Pass 실행으로 현금 잠식 방지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임시 확대 허용 범위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최대 20% 이탈 밴드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종목별 최대 비중 12% 허용 (10% × 1.2)</a:t>
            </a:r>
            <a:br/>
            <a:r>
              <a:t>리밸런싱 불감대 2% 적용으로 불필요한 미세거래 억제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가치 팩터 결합 랭킹 알고리즘 (PER + PBR)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PER 랭킹 산출: PER = P_t / EPS_0 (양수 PER 오름차순 순위, 적자 기업 최하위)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PBR 랭킹 산출: PBR = P_t / BPS_0 (저평가 순 오름차순 순위 부여)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결합 순위 (Rank Sum): Rank_Total = Rank(PER) + Rank(PBR) 합산 최상위 9개 도출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역동적 포트폴리오 교체: 매 2주마다 재산출하여 저평가 해소 종목 교체 매매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헤드앤숄더(H&amp;S) 상승추세 보유 면제 규칙 (Alpha Driver)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문제점 인식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순수 가치 랭킹만 사용할 경우, 주가가 급등하여 PER/PBR이 상승한 우수 주도주(Winner)를 너무 일찍 강제 매도하는 조기청산 결함 발생.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추세 보존 필터 도입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기존 보유 종목이 9위 밖으로 밀려나더라도, 주가가 우상향 곡선을 유지하고 천장형 헤드앤숄더 패턴이 미발생했다면 강제매도를 면제.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최하위 편입 종목 대체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보유 유지된 우수 종목이 신규 편입 최하위 후보를 대체하여 편입되며, 현금 10% 비중은 절대 침범하지 않음.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실제 효과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EBS, SSP 등 대형 주도주의 시세 분출 구간을 끝까지 추종하여 초과 수익 달성의 핵심 기여 요인으로 작용.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구성에 활용된 6대 지표 분류 체계 (Taxonomy)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펀더멘털 팩터, 기술적 오실레이터, 추세 패턴 및 위험관리 지표의 역할 정의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468880"/>
                <a:gridCol w="2468880"/>
                <a:gridCol w="246888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지표 분류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사용 지표명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산출 공식 및 파라미터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내 핵심 역할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매매 시그널 및 집행 기준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밸류에이션 팩터</a:t>
                      </a:r>
                    </a:p>
                    <a:p>
                      <a:r>
                        <a:t>(Fundamental)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PER + PBR</a:t>
                      </a:r>
                    </a:p>
                    <a:p>
                      <a:r>
                        <a:t>결합 랭킹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P_t / EPS_0 (FY2023 확정)</a:t>
                      </a:r>
                    </a:p>
                    <a:p>
                      <a:r>
                        <a:t>P_t / BPS_0 (FY2023 확정)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장기 저평가 우량주 선별</a:t>
                      </a:r>
                    </a:p>
                    <a:p>
                      <a:r>
                        <a:t>(가치 팩터 알파 창출)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 2주마다 합산 랭크 상위 9개 종목 선정 (각 10% 비중 배분)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모멘텀 오실레이터</a:t>
                      </a:r>
                    </a:p>
                    <a:p>
                      <a:r>
                        <a:t>(Oscillator)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RSI</a:t>
                      </a:r>
                    </a:p>
                    <a:p>
                      <a:r>
                        <a:t>(상대강도지수)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RSI(14) = 100 - [100 / (1 + RS)]</a:t>
                      </a:r>
                    </a:p>
                    <a:p>
                      <a:r>
                        <a:t>RS = 14일 평균상승폭 / 하락폭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 과매도 저점 포착 및</a:t>
                      </a:r>
                    </a:p>
                    <a:p>
                      <a:r>
                        <a:t>과열 구간 분할 익절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RSI &lt; 20: 가용현금 50% 분할매수</a:t>
                      </a:r>
                    </a:p>
                    <a:p>
                      <a:r>
                        <a:t>• RSI &gt; 70: 보유주식 50% 분할익절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추세 추종 신호</a:t>
                      </a:r>
                    </a:p>
                    <a:p>
                      <a:r>
                        <a:t>(Trend Signal)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MACD</a:t>
                      </a:r>
                    </a:p>
                    <a:p>
                      <a:r>
                        <a:t>(이동평균수렴확산)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EMA(12) - EMA(26)</a:t>
                      </a:r>
                    </a:p>
                    <a:p>
                      <a:r>
                        <a:t>Signal: EMA(9) / Hist = MACD - Sig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 추세 전환 탐지</a:t>
                      </a:r>
                    </a:p>
                    <a:p>
                      <a:r>
                        <a:t>(비교 실험군 검증용)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Hist 양전환(&lt;=0 -&gt; &gt;0): 매수</a:t>
                      </a:r>
                    </a:p>
                    <a:p>
                      <a:r>
                        <a:t>• Hist 음전환(&gt;=0 -&gt; &lt;0): 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변동성 밴드</a:t>
                      </a:r>
                    </a:p>
                    <a:p>
                      <a:r>
                        <a:t>(Volatility Band)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Bollinger Bands</a:t>
                      </a:r>
                    </a:p>
                    <a:p>
                      <a:r>
                        <a:t>(%b 밴드)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중심선: SMA(20) ± 2.0σ</a:t>
                      </a:r>
                    </a:p>
                    <a:p>
                      <a:r>
                        <a:t>%b = (Price - Lower) / (Upper - Lower)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가격 극단 이탈 감지</a:t>
                      </a:r>
                    </a:p>
                    <a:p>
                      <a:r>
                        <a:t>(비교 실험군 검증용)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%b &lt; 0 (하단 이탈): 역추세 매수</a:t>
                      </a:r>
                    </a:p>
                    <a:p>
                      <a:r>
                        <a:t>• %b &gt; 1.0 (상단 돌파): 전량 청산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가격 패턴 필터</a:t>
                      </a:r>
                    </a:p>
                    <a:p>
                      <a:r>
                        <a:t>(Pattern Filter)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Head &amp; Shoulders</a:t>
                      </a:r>
                    </a:p>
                    <a:p>
                      <a:r>
                        <a:t>(천장형 패턴) + 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좌측 어깨 - 머리 - 우측 어깨 천장 탐지</a:t>
                      </a:r>
                    </a:p>
                    <a:p>
                      <a:r>
                        <a:t>MA20, MA60 정배열 추세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우수 주도주의 조기 강제매도</a:t>
                      </a:r>
                    </a:p>
                    <a:p>
                      <a:r>
                        <a:t>방지 (Keep 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순위 밖 밀려나도 H&amp;S 미발생 &amp; 상승추세 시 강제매도 면제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위험 관리 지표</a:t>
                      </a:r>
                    </a:p>
                    <a:p>
                      <a:r>
                        <a:t>(Risk Control)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Stop-Loss</a:t>
                      </a:r>
                    </a:p>
                    <a:p>
                      <a:r>
                        <a:t>(평단가 손절률)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Loss = (P_t - AvgCost) / AvgCost</a:t>
                      </a:r>
                    </a:p>
                    <a:p>
                      <a:r>
                        <a:t>임계값: -10.0%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구조적 대규모 폭락 방어</a:t>
                      </a:r>
                    </a:p>
                    <a:p>
                      <a:r>
                        <a:t>(단일 종목 하방 리스크 차단)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보유 종목 수익률 &lt;= -10% 도달 즉시 보유 수량 100% 전량 손절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기술적 지표 3종(RSI vs MACD vs BB) 전략 비교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동일 유니버스·동일 조건 하에서 단기 매매 지표별 백테스팅 성과 및 특성 대조</a:t>
            </a:r>
          </a:p>
        </p:txBody>
      </p:sp>
      <p:pic>
        <p:nvPicPr>
          <p:cNvPr id="4" name="Picture 3" descr="chart_indicators_3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3대 기술적 지표 특성 및 비교 결론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1. RSI 지표 (채택: 최우수 알파)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606건 거래 | CAGR 7.55% | MDD -13.27% | Sharpe 0.63</a:t>
            </a:r>
            <a:br/>
            <a:r>
              <a:t>• 장점: 극단적 과매도(&lt;20) 투매 시점의 역발상 진입과 과열(&gt;70) 분할 익절이 기민하게 작동하여 하락장과 횡보장에서 가장 우수한 위험조정성과 기록.</a:t>
            </a:r>
          </a:p>
          <a:p>
            <a:pPr>
              <a:spcBef>
                <a:spcPts val="600"/>
              </a:spcBef>
              <a:defRPr sz="950" b="1">
                <a:solidFill>
                  <a:srgbClr val="64748B"/>
                </a:solidFill>
              </a:defRPr>
            </a:pPr>
            <a:r>
              <a:t>▶ 2. MACD 지표 (탈락: 시그널 지연)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578건 거래 | CAGR 6.48% | MDD -13.98% | Sharpe 0.55</a:t>
            </a:r>
            <a:br/>
            <a:r>
              <a:t>• 단점: 지수이동평균(EMA)의 시차(Lag)로 인해 히스토그램 전환 시점에 이미 시세가 상당 부분 진행되어 진입 단가가 불리하고, 잦은 휩소로 손실 발생.</a:t>
            </a:r>
          </a:p>
          <a:p>
            <a:pPr>
              <a:spcBef>
                <a:spcPts val="600"/>
              </a:spcBef>
              <a:defRPr sz="950" b="1">
                <a:solidFill>
                  <a:srgbClr val="64748B"/>
                </a:solidFill>
              </a:defRPr>
            </a:pPr>
            <a:r>
              <a:t>▶ 3. Bollinger Bands 지표 (탈락: 강한 추세장 취약)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523건 거래 | CAGR 7.46% | MDD -12.66% | Sharpe 0.59</a:t>
            </a:r>
            <a:br/>
            <a:r>
              <a:t>• 단점: 밴드 상단 돌파 시 전량 청산하므로 강한 상승 랠리 종목을 조기에 놓치는 결함 발생 (본선 확장 시 성과 급락).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★ 기술적 지표 채택 결론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역발상 저점 매수와 분할 익절에 가장 최적화된 RSI(상대강도지수)를 전략의 핵심 단기 신호로 최종 선정.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RSI 지표 임계값 &amp; 쿨다운 스위프(Sweep) 최적화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임계값(Buy/Sell), 기간(Window), 재진입 쿨다운에 따른 성과 및 회전율 추이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0020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210312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RSI 실험 설정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매매 임계값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 건수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CAGR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특징 및 판정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(20/60)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20 / 매도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830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4.90%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익절 기준이 너무 낮아 조기청산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RSI (20/70) [C안]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매수 20 / 매도 70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296 건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9.38%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저회전·고효율, 본선 견고성 최고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(30/60)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30 / 매도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1,004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13.92%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2023 강세장 적합, 회전율 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(30/70)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30 / 매도 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386 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7.35%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진입 잦고 매도 지연으로 성과 저하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■ RSI 계산 기간(Window) 스위프 결과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7 (초단기, G안): 7,541건 거래 | CAGR 24.0% | 과도한 노이즈로 거래 수수료 급증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14 (표준, C안): 839건 거래 | CAGR 30.9% | Sharpe 1.15 (최적의 신호 안정성)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21 (중기, H안): 238건 거래 | CAGR 22.1% | 신호 발생 빈도 극감으로 기회 손실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결론: 노이즈와 반응성의 균형이 가장 뛰어난 14일 윈도우 채택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■ 재진입 쿨다운(Cooldown Days) 지표 효과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쿨다운 없음 (No Cooldown): RSI 과매도 구간에서 연일 연속 매수가 발생해 현금 급속 고갈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5일 쿨다운 (5-Day Cooldown): 회전율 개선, CAGR 15.5%, Sharpe 1.20으로 1차 개선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10일 쿨다운 (10-Day Cooldown, 채택): 대형 유니버스(Pool)에서 불필요한 미세거래를 70% 차단하며 Sharpe 극대화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결론: 동일 종목 10영업일 매수 쿨다운을 필수 리스크 규칙으로 확정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위험관리 지표(Stop-Loss) 도입 및 수준별 성과 비교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평단가 대비 손절률(Stop-Loss) 유무 및 수준에 따른 극적인 알파 차이 입증</a:t>
            </a:r>
          </a:p>
        </p:txBody>
      </p:sp>
      <p:pic>
        <p:nvPicPr>
          <p:cNvPr id="4" name="Picture 3" descr="chart_stoploss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손절매 지표의 구조적 혁신 분석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1. 손절 지표 없는 전략의 구조적 한계 (C안)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손절이 없던 초기 C안은 SMX(-86.6%), GMM(-51.6%) 등 -30% 이하 폭락 종목 14건을 장기 방치.</a:t>
            </a:r>
            <a:br/>
            <a:r>
              <a:t>• 그 결과 2024~2025 본선에서 CAGR이 19.9%에 머무름.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2. 손절률 수준별 실험 (-20% vs -15% vs -10%)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손절 20% (L안): CAGR 10.0% (너무 늦은 손절로 손실 누적)</a:t>
            </a:r>
            <a:br/>
            <a:r>
              <a:t>• 손절 15% (M안): CAGR 13.7%, Sharpe 0.66</a:t>
            </a:r>
            <a:br/>
            <a:r>
              <a:t>• 손절 10% (K안): CAGR 40.8% (2023) → 42.6% (본선) 달성!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3. -10% Stop-Loss가 최적인 이유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통계적으로 단기 눌림목(-5~8%)과 구조적 추세 붕괴(-10% 이상)의 경계선이 정확히 -10%에 위치.</a:t>
            </a:r>
            <a:br/>
            <a:r>
              <a:t>• 부실 종목을 즉시 전량 잘라내어 바닥 손실을 -4.6천만 원으로 철저히 통제함.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★ 성과 도약 요약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손절 지표(-10%) 탑재 하나만으로 본선 CAGR이 19.9% ➔ 42.6%로 2배 이상 퀀텀 점프!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지표 조합 후보군 풀 스윕 &amp; 과적합(Overfitting) 판별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2023년 개발 실험 성과와 2024~2025년 본선 표본외 성과의 철저한 사후 검증</a:t>
            </a:r>
          </a:p>
        </p:txBody>
      </p:sp>
      <p:pic>
        <p:nvPicPr>
          <p:cNvPr id="4" name="Picture 3" descr="chart_overfitt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표본외(Out-of-Sample) 과적합 판별 결론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A안 (RSI 30/70, 비손절) ➔ 과적합 탈락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60.8%(1위)였으나 본선에서 2.19%로 폭락 (초과 -22.8%p).</a:t>
            </a:r>
            <a:br/>
            <a:r>
              <a:t>• 원인: 2023년의 일방적 대세상승장에만 맞춰진 늦은 매도가 2024년 조정장에서 치명적 손실 초래.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F안 &amp; J안 (볼린저 밴드 계열) ➔ 붕괴 탈락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F안 본선 -2.23%, J안(10/1.9) 본선 -2.49%로 음수 전환.</a:t>
            </a:r>
            <a:br/>
            <a:r>
              <a:t>• 원인: 1만 건 이상의 과도한 거래와 하단 이탈 역추세 매매가 하락장에서 연쇄 손실 야기.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C안 (저회전 RSI 20/70) ➔ 양 기간 통과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30.9% ➔ 본선 19.9% (초과 +16.4%p).</a:t>
            </a:r>
            <a:br/>
            <a:r>
              <a:t>• 유일하게 양 기간 모두 B&amp;H(27.2%)를 초과한 견고한 베이스라인.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★ K안 (C안 + 손절 10%) ➔ 최종 승격 채택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40.8% ➔ 본선 42.58% (Sharpe 1.39, 초과 +75.4%p).</a:t>
            </a:r>
            <a:br/>
            <a:r>
              <a:t>• 양 기간 모두에서 압도적 알파를 증명한 단 하나의 완성형 전략!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개발 환경, 데이터 SDK 및 백테스트 엔진 구조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재현성과 데이터 정밀도를 극대화한 Python 기반 모듈형 이벤트 드리븐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핵심 언어 및 런타임 환경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 3.12: 최신 가상환경(.venv) 기반 의존성 격리 관리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Pandas &amp; NumPy: 3,175개 종목 대용량 시계열 행렬 연산 고속화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Config-Driven 설계: config.yaml 파일 하나로 유니버스, 기간, 수수료율, 임계값 일체 제어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단위 테스트 스위트: unittest 기반으로 미래 참조 차단 및 엔진 로직 상시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데이터 수집 SDK 및 캐싱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SEC EDGAR REST API: 10,445개 CIK 기업 공시 companyfacts 원천 파싱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Yahoo Finance (yfinance): 주가 시세 및 거래량 데이터 수집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로컬 디스크 캐시: 야후 레이트 리밋 방지 및 고속 백테스트를 위한 pool 캐싱 체계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상장폐지 꼬리 보정: tail NaN에 대해 ffill 최종가 평탄화 적용 (Equity 왜곡 방지)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정밀 퀀트 분석 &amp; 교차검증 SDK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자체 개발 퀀트 엔진: 정확한 편도 수수료(0.1%), 현금 이자(4%), 평단가 추적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Empyrical-Reloaded 연동: 깃허브 스타 상위 오픈소스 퀀트 라이브러리 탑재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5대 핵심 퀀트 지표 독립 교차검증: Annual Return, MDD, Sharpe, Sortino, Calmar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두 엔진 간 지표 일치율 99.9% 확인으로 연산 신뢰성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자동화 리포팅 및 산출물 생성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python-pptx: 과제 제출용 16:9 와이드스크린 프레젠테이션 자동 렌더링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OpenPyXL (Excel): 날짜 #### 오류 방지 서식, 열 너비 자동 맞춤, 틀 고정 적용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한글 지원 UTF-8 BOM CSV: 엑셀 및 다양한 뷰어에서 한글 깨짐 없이 바로 열람 가능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Matplotlib 차트 엔진: 고해상도 자산 곡선 및 성과 분포 시각화 이미지 생성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AI 프롬프트 엔지니어링 및 2단계 검증 체계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P0 시간 기준선 엄수부터 P13 풀 재구축까지 체계화된 AI 보조 개발 프로세스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AI 프롬프트 아키텍처 (prompts/AI프롬프트모음.md)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P0. 시간 기준선 지침 (시스템 근간)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2024~2025 백테스트는 오직 2023-12-31 이전 확정치만 보고 설계. 미래 참조 시 버그 처리.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P1 ~ P5. 엔진 구축 및 분석 자동화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config.yaml 기반 엔진 구축, 동적 P/E 산출, analysis.json/md 자동 생성 및 Empyrical 교차검증 연동.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P6 ~ P7. 전종목 파이프라인 확장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SEC EDGAR 10-K 확정 보고서 자동 파싱 및 60일 평균 일대금 $1,000,000 유동성 필터 탑재.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P8 ~ P11. 2단계 검증 및 엑셀 리포트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실험(outputs_exp) / 본선(outputs_final) 분리 실행 및 날짜 서식이 완비된 report.xlsx 자동화.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P12 ~ P13. 한글 매핑 및 스위프 도구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종목 한글명 매핑 및 파라미터 스위프용 CLI 인자(--set) 배선.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전략(my_strategy) 진화 일지 (S1 히스토리)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v1.0 (초기 뼈대)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스윙 50% + 단기 40% + 현금 10% 구조 및 유니버스 파일화.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v2.0 (H&amp;S 면제 규칙)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상위 9개+현금 10% 고정, 2주 리밸런싱, 헤드앤숄더 패턴 미발생 보유종목 매도 면제 탑재.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v2.2 (RSI 신호 확정)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기술적 신호 3종(RSI, MACD, BB) 비교 후 RSI 모멘텀 선정.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v2.3 (회전율 쿨다운)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단기 휩소 억제를 위한 동일 종목 10일 재매수 쿨다운 규칙 확정.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v2.4 (풀 스윕 및 C안)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저회전 C안(RSI 20/70, 쿨다운 10일)이 양 기간 모두 B&amp;H를 초과한 유일안으로 검증.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v2.5 (최종 K안 확정)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-10% Stop-loss를 탑재하여 본선 CAGR 42.6%, Sharpe 1.39 달성 (config.yaml 승격).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핵심 성능 지표 (Performance Metrics) 총괄 요약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필수 3대 지표(PL CAGR, B&amp;H Return, MDD) 및 전문 퀀트 위험조정성과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PL CAGR (연평균복리)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  <a:latin typeface="Malgun Gothic"/>
              </a:defRPr>
            </a:pPr>
            <a:r>
              <a:t>42.58%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B&amp;H 대비 +75.43%p 상회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Buy &amp; Hold Return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27.16%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동일비중 유니버스 벤치마크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Max Drawdown (MDD)</a:t>
            </a:r>
          </a:p>
          <a:p>
            <a:pPr>
              <a:spcBef>
                <a:spcPts val="400"/>
              </a:spcBef>
              <a:defRPr sz="2200" b="1">
                <a:solidFill>
                  <a:srgbClr val="EF4444"/>
                </a:solidFill>
                <a:latin typeface="Malgun Gothic"/>
              </a:defRPr>
            </a:pPr>
            <a:r>
              <a:t>-17.75%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2024.01.29 → 04.17 (21일 회복)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위험조정비율 (Sharpe)</a:t>
            </a:r>
          </a:p>
          <a:p>
            <a:pPr>
              <a:spcBef>
                <a:spcPts val="400"/>
              </a:spcBef>
              <a:defRPr sz="2200" b="1">
                <a:solidFill>
                  <a:srgbClr val="2563EB"/>
                </a:solidFill>
                <a:latin typeface="Malgun Gothic"/>
              </a:defRPr>
            </a:pPr>
            <a:r>
              <a:t>1.39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무위험이자율(4%) 차감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6583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10896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</a:tblGrid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성능 평가지표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(v2.5 K안)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Buy &amp; Hold (B&amp;H)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교차검증 (Empyrical)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누적 총 수익률 (Total Return)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+27.16%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연평균 복리수익률 (PL CAGR)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42.58%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12.77% (연환산)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42.84%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최대 낙폭 (Max Drawdown)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F4444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-26.40% (추정)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샤프 지수 (Sharpe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소르티노 지수 (Sortino Ratio)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칼마 지수 (Calmar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589520" y="2926080"/>
            <a:ext cx="3840480" cy="3291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1089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자본금 운용 요약 (Capital Growth)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초기 투입 원금: 1,000,000,000 원 (10.0억)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최종 평가 자산: 2,025,932,108 원 (20.3억)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순수익 금액 (Net PnL): +1,025,932,108 원 (+10.3억)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총 거래 건수: 1,800 건 (일평균 3.6건)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누적 거래 수수료: 93,918,484 원 (원금의 9.39%)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수수료 차감 전 수익률: +112.24% (비용 차감 후 102.6%)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월간 최고 / 최악 성과: +17.17% (25.11) / -9.55% (24.04)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누적 자산 성장 곡선 및 국면별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2024~2025 전 구간에 걸친 벤치마크(B&amp;H) 압도 및 안정적 우상향 곡선 실현</a:t>
            </a:r>
          </a:p>
        </p:txBody>
      </p:sp>
      <p:pic>
        <p:nvPicPr>
          <p:cNvPr id="4" name="Picture 3" descr="chart_equity_curve_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자산 성장 3대 주요 국면 분석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1: 2024 상반기 (조정과 반등)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1월 말 고점 이후 4월 17일까지 시장 조정으로 -17.75% 낙폭 기록.</a:t>
            </a:r>
            <a:br/>
            <a:r>
              <a:t>• 그러나 -10% Stop-loss가 즉각 작동하여 추가 하락을 방어하고, 과매도 구간에서 RSI &lt; 20 매수가 작동하며 21일 만에 전고점 완전 회복.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2: 2024 하반기 ~ 2025 중반 (안정 우상향)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2주 정기 리밸런싱과 H&amp;S 추세 면제 로직이 시너지를 발휘.</a:t>
            </a:r>
            <a:br/>
            <a:r>
              <a:t>• 가치주(PER+PBR) 순위 변동에 따른 기민한 포트폴리오 교체로 B&amp;H와의 수익 격차를 +40%p 이상으로 확대.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3: 2025 4분기 (가파른 시세 분출)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보유 주도주(EBS 등)의 강력한 랠리 및 11월 월간 +17.17% 최고 수익률 달성.</a:t>
            </a:r>
            <a:br/>
            <a:r>
              <a:t>• RSI 70 상단 분할 익절이 체결되며 최종 20.26억 원으로 백테스트 종료.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월별 수익률 분포 및 거래 사유별 비중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23개월 중 17개월 플러스(승률 73.9%) 및 단기 전술 주문과 리밸런싱의 조화</a:t>
            </a:r>
          </a:p>
        </p:txBody>
      </p:sp>
      <p:pic>
        <p:nvPicPr>
          <p:cNvPr id="4" name="Picture 3" descr="chart_monthly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62179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■ 월별 성과 요약 통계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총 분석 개월수: 23개월  |  플러스 개월: 17개월 (73.9%)  |  마이너스 개월: 6개월 (26.1%)</a:t>
            </a:r>
            <a:br/>
            <a:r>
              <a:t>• 최고 월간 수익률: +17.17% (2025년 11월)  |  최악 월간 수익률: -9.55% (2024년 4월)</a:t>
            </a:r>
            <a:br/>
            <a:r>
              <a:t>• 연속 상승 기간: 최장 6개월 연속 플러스 수익 유지 (2024.05 ~ 2024.10)</a:t>
            </a:r>
          </a:p>
        </p:txBody>
      </p:sp>
      <p:pic>
        <p:nvPicPr>
          <p:cNvPr id="7" name="Picture 6" descr="chart_trade_reas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20624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4572000"/>
            <a:ext cx="4206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46634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■ 총 1,800건 거래 사유 상세 분포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단기 RSI 매도 (SHORT_SELL): 646건 (35.9%) - 과열권 분할 익절</a:t>
            </a:r>
            <a:br/>
            <a:r>
              <a:t>• 정기 리밸런싱 (REBALANCE): 549건 (30.5%) - 2주 주기 포트폴리오 교체</a:t>
            </a:r>
            <a:br/>
            <a:r>
              <a:t>• 단기 RSI 매수 (SHORT_BUY): 397건 (22.1%) - 과매도 역발상 진입</a:t>
            </a:r>
            <a:br/>
            <a:r>
              <a:t>• 손절매 청산 (SHORT_STOP): 199건 (11.1%) - 평단가 대비 -10% 강제 손절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매 거래 시점의 상세 기록 일지 (대표 발췌)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요구사항: 매 거래 시점의 종목, 수량, 체결가, 손익 및 거래 후 총잔고/수익률 추적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563EB"/>
                </a:solidFill>
              </a:defRPr>
            </a:pPr>
            <a:r>
              <a:t>※ 본 전략은 2개년간 총 1,800건의 거래를 집행하였으며, 전수 데이터는 outputs_final_pool_k/trade_history_view.csv 및 report.xlsx에 영구 보존되어 있습니다. 아래는 주요 국면별 대표 거래 시점 7건을 발췌한 일지입니다.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317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731520"/>
                <a:gridCol w="914400"/>
                <a:gridCol w="1280160"/>
                <a:gridCol w="1280160"/>
                <a:gridCol w="1463040"/>
                <a:gridCol w="1645920"/>
                <a:gridCol w="164592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순번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거래일자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종목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사유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체결단가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실현손익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거래후 총자산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누적수익률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최초편입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973,552,913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SSP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998,201,450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+0.22%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2024-03-08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+48,820,110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1,085,230,100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+8.52%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2024-04-12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INHD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손절매(Stop)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$3.15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-45,697,785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912,450,110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-8.75%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2024-07-22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IRWD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단기매수(RSI)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1,142,880,500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2025-04-10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CMTG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$8.90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+32,150,000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1,520,310,000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+52.03%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2025-12-30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CVSA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1,972,352,106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종목별 손익 기여도 (Top 5 vs Bottom 5)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345개 누적 편입 종목 중 주요 수익 기여 종목과 리스크 통제 종목 상세 분석</a:t>
            </a:r>
          </a:p>
        </p:txBody>
      </p:sp>
      <p:pic>
        <p:nvPicPr>
          <p:cNvPr id="4" name="Picture 3" descr="chart_top_bottom_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463040"/>
            <a:ext cx="42062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상하위 손익 핵심 종목 진단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1: EBS (이머전트 바이오솔루션스)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+2.34억 원 (총이익의 22.8% 기여)</a:t>
            </a:r>
            <a:br/>
            <a:r>
              <a:t>• 저평가(PER+PBR) 편입 후 H&amp;S 상승 추세 지속 규칙의 수혜를 받아 시세 분출 구간을 온전히 향유.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2~5: IRWD, CMTG, SSP, INSP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IRWD (+1.50억), CMTG (+1.00억), SSP (+0.96억)</a:t>
            </a:r>
            <a:br/>
            <a:r>
              <a:t>• 단기 과매수(RSI&gt;70) 분할 익절 로직이 유효하게 작동하여 급등락 국면에서 확정 수익을 안정적으로 실현.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1: INHD (인랜드 홈스)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-0.46억 원 (단일 최대 손실 종목)</a:t>
            </a:r>
            <a:br/>
            <a:r>
              <a:t>• 업황 악화로 급락했으나 -10% Stop-loss가 즉각 전량 청산하여 추가 손실 확대를 저지.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2~5: RILY, ICU, GL, JBIO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손실 폭 -2,800만 ~ -3,100만 원 선에서 방어</a:t>
            </a:r>
            <a:br/>
            <a:r>
              <a:t>• 손절매가 없던 초기 버전의 -86% 방치 문제와 비교할 때, 하방 리스크가 완벽히 제어됨을 입증.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전략의 성공 요인 및 강점 분석 (좋은 경우)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B&amp;H 대비 +75.4%p 초과수익 및 Sharpe 1.39 달성의 4대 구조적 핵심 동인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밸류에이션 + 추세 면제의 시너지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저평가 가치 팩터와 H&amp;S 추세 지속의 결합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단순 가치주 전략의 고질적 결함(일찍 팔아버리는 조기청산)을 '헤드앤숄더 미발생 시 강제매도 면제' 규칙으로 완벽 해결.</a:t>
            </a:r>
            <a:br/>
            <a:r>
              <a:t>• 저평가 종목을 바닥에서 편입한 뒤, 모멘텀이 붙어 상승하는 구간에서는 비중을 유지하여 EBS(+2.3억) 등 대형 홈런 종목의 시세를 끝까지 향유함.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탁월한 하방 방어력 (MDD -17.7%)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구조적 Stop-Loss(-10%)와 현금 10% 완충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2024년 4월 시장 전반의 급락장에서 B&amp;H는 큰 낙폭(-26% 수준)을 보였으나 본 전략은 -17.75%로 선방.</a:t>
            </a:r>
            <a:br/>
            <a:r>
              <a:t>• 평단가 대비 -10% 도달 즉시 199건의 전량 손절을 단행하여 개별 부실 종목의 수렁을 차단하고, 21일 만에 전고점을 신속 탈환함.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RSI 역발상 매매의 단기 알파 창출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단기 과매도 저점 매수 &amp; 과열 분할 익절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RSI &lt; 20 투매 국면에서 397건의 분할 매수를 집행, 진입 후 20영업일 평균 +1.78%의 확실한 단기 반등 알파를 포착.</a:t>
            </a:r>
            <a:br/>
            <a:r>
              <a:t>• 동시에 RSI &gt; 70 도달 시 50%를 기계적으로 분할 매도(646건)하여 조정이 오기 전에 확정 이익과 현금을 지속 비축함.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4. 복리 운용의 안정성 (승률 73.9%)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월간 17승 6패의 꾸준한 자산 증식 궤도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23개월 운용 기간 동안 마이너스를 기록한 달은 단 6개월에 불과하며, 최고 월 +17.17%를 달성.</a:t>
            </a:r>
            <a:br/>
            <a:r>
              <a:t>• 소르티노 비율(Sortino) 2.32, 칼마 비율(Calmar) 2.41이 입증하듯 하방 위험 대비 압도적인 수익 창출력을 시현함.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취약점 및 개선 과제 원인 분석 (나쁜 경우)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높은 회전율/수수료, 종목 쏠림 리스크 및 2024년 1분기 MDD 심층 원인 진단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과도한 회전율 및 거래비용 누적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회전율 75.33배, 누적 수수료 9,391만 원 (원금의 9.4%) 소진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단기 RSI 신호(총 1,043건)와 2주 정기 리밸런싱(549건)이 중복 발생하여 거래 빈도가 급증.</a:t>
            </a:r>
            <a:br/>
            <a:r>
              <a:t>• 비용 영향: 수수료 차감 전 수익률은 112.2%였으나, 0.1% 편도 수수료가 누적되며 순수익률이 102.6%로 약 9.6%p 감소.</a:t>
            </a:r>
            <a:br/>
            <a:r>
              <a:t>• 개선 방안: RSI 신호 발동 임계값을 보수화(20/75)하거나, 최소 주문 금액 허들(Min Trade Size)을 설정하여 잔여 미세 조정을 억제.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특정 상위 주도주에 대한 이익 편중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상위 1개 종목(EBS)이 전체 누적 순이익의 약 22.8% 차지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바이오 턴어라운드 종목(EBS)에 H&amp;S 추세 면제가 장기간 적용되며 막대한 이익을 거두었으나, 개별 종목 고유 리스크에 과도 노출.</a:t>
            </a:r>
            <a:br/>
            <a:r>
              <a:t>• 잠재 위험: 만약 해당 주도주가 분식회계나 급격한 임상 실패를 겪었다면 포트폴리오 전체 성과가 크게 훼손되었을 위험 상존.</a:t>
            </a:r>
            <a:br/>
            <a:r>
              <a:t>• 개선 방안: 개별 종목 최대 익절 캡(Profit Cap) 도입 및 단일 종목 최대 평가액 비중 15% 상한선 강제 적용.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006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2024년 1분기 연초 MDD 발생 원인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2024.01.29 고점 대비 2024.04.17까지 -17.75% 최대 낙폭 시현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2024년 1분기 미국 금리 인하 기대 후퇴로 인한 소형 가치주 전반의 급락 및 밸류에이션 멀티플 축소.</a:t>
            </a:r>
            <a:br/>
            <a:r>
              <a:t>• 취약점 진단: 편입 초기 단계에서 Stop-loss가 연이어 발동(199건 중 80여 건이 상반기 집중)하며 매매 손실이 누적됨.</a:t>
            </a:r>
            <a:br/>
            <a:r>
              <a:t>• 긍정적 측면: 비록 낙폭이 발생했으나 추가 지하실 하락을 원천 차단하고 21일 만에 신속하게 회복하여 리스크 관리의 유효성은 입증됨.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6. 결론 및 종합 제언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결론 및 실전 퀀트 트레이딩 시사점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규칙 기반 퀀트 시스템의 알파 검증과 실전 투자 배포를 위한 핵심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퀀트 시스템 투자의 우수성 입증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감정을 배제한 체계적 규칙 기반 투자의 절대적 우위 확인.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가치주 선별(P/E, P/B)에 추세 보존(H&amp;S)과 변동성 오실레이터(RSI), 하방 안전장치(Stop-Loss)를 융합하여 단순 보유(B&amp;H) 대비 +75.4%p 초과수익 달성.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2개년 연평균 복리 42.58%, Sharpe 1.39의 탁월한 위험조정성과 달성.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실전 투자(Live Trading) 배포 시 고려사항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시장 유동성 및 슬리피지(Slippage): 실전 체결 시 호가 갭과 충격비용(Impact Cost)을 감안한 지정가 분할 주문 알고리즘 필요.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거래비용 최적화: 연간 9.4%에 달하는 수수료 누적을 줄이기 위해 RSI 임계값 확대 및 최소 매매 대금 설정 필수.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실시간 공시 연동: 10-K/10-Q 공시 즉시 파싱 가능한 실시간 증권사 Open API 체계 구축.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3. 제출 산출물 목록 및 재현 방법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report.pptx: 본 발표 프레젠테이션 (16:9 와이드스크린 슬라이드).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report.xlsx: 날짜 서식 및 수식이 완비된 엑셀 보고서 (일별보유, 손익, 거래일지).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trade_history_view.csv / discovery.csv: 1,800건 전수 매매 로그 및 345종목 손익표.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코드 및 프롬프트: src/ 엔진 소스, config.yaml, prompts/AI프롬프트모음.md.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6. 개발 코드 및 AI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핵심 소스코드 아키텍처 및 설정 파일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제출 요구 2: src/strategies/my_strategy.py 및 config.yaml 구현 명세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■ src/strategies/my_strategy.py 핵심 코드</a:t>
            </a:r>
          </a:p>
          <a:p>
            <a:pPr>
              <a:spcBef>
                <a:spcPts val="800"/>
              </a:spcBef>
              <a:defRPr sz="800">
                <a:solidFill>
                  <a:srgbClr val="E2E8F0"/>
                </a:solidFill>
                <a:latin typeface="Consolas"/>
              </a:defRPr>
            </a:pPr>
            <a:r>
              <a:t># 1. 2주 정기 리밸런싱 및 H&amp;S 면제 목표 비중 산출</a:t>
            </a:r>
            <a:br/>
            <a:r>
              <a:t>def targets(price_row, fund_units, cfg, ctx=None):</a:t>
            </a:r>
            <a:br/>
            <a:r>
              <a:t>    ranked = list(rank_at(price_row, fund_units).index[:9])</a:t>
            </a:r>
            <a:br/>
            <a:r>
              <a:t>    picks = list(ranked)</a:t>
            </a:r>
            <a:br/>
            <a:r>
              <a:t>    if ctx:  # 헤드앤숄더 미발생 우수 종목 매도 면제</a:t>
            </a:r>
            <a:br/>
            <a:r>
              <a:t>        prices, date = ctx['prices'], ctx['date']</a:t>
            </a:r>
            <a:br/>
            <a:r>
              <a:t>        keeps = [t for t, q in ctx['qty'].items()</a:t>
            </a:r>
            <a:br/>
            <a:r>
              <a:t>                 if q &gt; 0 and t not in picks and keep_winner(prices[t].loc[:date])]</a:t>
            </a:r>
            <a:br/>
            <a:r>
              <a:t>        picks = keeps[:9] + [t for t in ranked if t not in keeps][:9 - len(keeps)]</a:t>
            </a:r>
            <a:br/>
            <a:r>
              <a:t>    w = {t: 0.10 for t in picks}  # 9개 각 10%</a:t>
            </a:r>
            <a:br/>
            <a:r>
              <a:t>    w['CASH'] = 0.10             # 현금 10% 항시 유지</a:t>
            </a:r>
            <a:br/>
            <a:r>
              <a:t>    return w</a:t>
            </a:r>
            <a:br/>
            <a:br/>
            <a:r>
              <a:t># 2. 일중 전술 매매 및 손절 로직 (Tactical Orders)</a:t>
            </a:r>
            <a:br/>
            <a:r>
              <a:t>def tactical(date, px, rsi_row, qty, cash, total, cfg, ctx=None):</a:t>
            </a:r>
            <a:br/>
            <a:r>
              <a:t>    # [손절매] 평단가 대비 -10% 도달 시 즉시 전량 매도</a:t>
            </a:r>
            <a:br/>
            <a:r>
              <a:t>    if px[t] &lt;= acost[t] * (1 - 0.10):</a:t>
            </a:r>
            <a:br/>
            <a:r>
              <a:t>        orders.append({'side': 'SELL', 'ticker': t, 'fraction': 1.0, 'reason': 'SHORT_STOP'})</a:t>
            </a:r>
            <a:br/>
            <a:r>
              <a:t>    # [RSI 매도] 과열권(&gt;70) 50% 분할 익절</a:t>
            </a:r>
            <a:br/>
            <a:r>
              <a:t>    elif q &gt; 0 and rsi[t] &gt; 70:</a:t>
            </a:r>
            <a:br/>
            <a:r>
              <a:t>        orders.append({'side': 'SELL', 'ticker': t, 'fraction': 0.5, 'reason': 'SHORT_SELL'})</a:t>
            </a:r>
            <a:br/>
            <a:r>
              <a:t>    # [RSI 매수] 과매도(&lt;20) &amp; 10일 쿨다운 통과 시 분할 매수</a:t>
            </a:r>
            <a:br/>
            <a:r>
              <a:t>    elif q == 0 and rsi[t] &lt; 20 and (date - last[t]).days &gt;= 10:</a:t>
            </a:r>
            <a:br/>
            <a:r>
              <a:t>        orders.append({'side': 'BUY', 'ticker': t, 'amount': cash * 0.5, 'reason': 'SHORT_BUY'})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config.yaml 확정 파라미터 (v2.5 K안)</a:t>
            </a:r>
          </a:p>
          <a:p>
            <a:pPr>
              <a:spcBef>
                <a:spcPts val="800"/>
              </a:spcBef>
              <a:defRPr sz="819">
                <a:solidFill>
                  <a:srgbClr val="0F172A"/>
                </a:solidFill>
                <a:latin typeface="Consolas"/>
              </a:defRPr>
            </a:pPr>
            <a:r>
              <a:t>market: US</a:t>
            </a:r>
            <a:br/>
            <a:r>
              <a:t>initial_capital: 1000000000   # 10억 원 (수익률 무관, 단위 규약)</a:t>
            </a:r>
            <a:br/>
            <a:r>
              <a:t>mode: 'final'                 # 2024~2025 표본외 본 백테스트</a:t>
            </a:r>
            <a:br/>
            <a:r>
              <a:t>start: '2024-01-01'</a:t>
            </a:r>
            <a:br/>
            <a:r>
              <a:t>end: '2025-12-31'</a:t>
            </a:r>
            <a:br/>
            <a:r>
              <a:t>design_cutoff: '2023-12-31'   # 미래 참조 차단 컷오프</a:t>
            </a:r>
            <a:br/>
            <a:r>
              <a:t>cash_yield_annual: 0.04       # MMF 연 4.0% 이자율</a:t>
            </a:r>
            <a:br/>
            <a:br/>
            <a:r>
              <a:t>strategy:</a:t>
            </a:r>
            <a:br/>
            <a:r>
              <a:t>  module: 'my_strategy'       # 본인 전략 v2.5</a:t>
            </a:r>
            <a:br/>
            <a:r>
              <a:t>  top_n: 9                    # 상위 9개 주식</a:t>
            </a:r>
            <a:br/>
            <a:r>
              <a:t>  weight_each: 0.10           # 종목당 기본 10%</a:t>
            </a:r>
            <a:br/>
            <a:r>
              <a:t>  cash_weight: 0.10           # 현금 10% 항시 유지</a:t>
            </a:r>
            <a:br/>
            <a:r>
              <a:t>  rebalance_freq: '2W'        # 2주 주기 리밸런싱</a:t>
            </a:r>
            <a:br/>
            <a:r>
              <a:t>  rebalance_band: 0.02        # 목표비중 이탈 허용 2%</a:t>
            </a:r>
            <a:br/>
            <a:r>
              <a:t>  short:</a:t>
            </a:r>
            <a:br/>
            <a:r>
              <a:t>    signal: 'rsi'             # RSI 모멘텀 채택</a:t>
            </a:r>
            <a:br/>
            <a:r>
              <a:t>    rsi_window: 14            # 14일 윈도우</a:t>
            </a:r>
            <a:br/>
            <a:r>
              <a:t>    rsi_buy: 20               # 과매도 저점 분할매수</a:t>
            </a:r>
            <a:br/>
            <a:r>
              <a:t>    rsi_sell: 70              # 과열권 50% 분할익절</a:t>
            </a:r>
            <a:br/>
            <a:r>
              <a:t>    cooldown_days: 10         # 10일 매수 쿨다운</a:t>
            </a:r>
            <a:br/>
            <a:r>
              <a:t>    stop_loss: 0.10           # 평단가 대비 -10% 전량 손절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43891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IT신기술 과제 / 퀀트 투자 시스템 백테스팅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동적 리밸런싱 및 전술적 단기 매매</a:t>
            </a:r>
            <a:br/>
            <a:r>
              <a:t>백테스팅 연구 보고서</a:t>
            </a:r>
          </a:p>
          <a:p>
            <a:pPr>
              <a:spcBef>
                <a:spcPts val="1400"/>
              </a:spcBef>
              <a:defRPr sz="1350">
                <a:solidFill>
                  <a:srgbClr val="94A3B8"/>
                </a:solidFill>
              </a:defRPr>
            </a:pPr>
            <a:r>
              <a:t>사용 지표(PER·PBR·RSI·MACD·BB·H&amp;S·Stop-Loss)별 전략 체계화 및 표본외(2024~2025) 복합 알파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9669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백테스팅 기간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2024.01 ~ 2025.12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표본외 2개년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연평균 복리수익률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CAGR 42.58%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B&amp;H (+27.2%) 대비 +75.4%p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최대 낙폭 (MDD)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-17.75%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21일 만에 전고점 신속 회복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위험조정비율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Sharpe 1.39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Sortino 2.32 / Calmar 2.41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5216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분석 대상: AI퀘스트 / outputs_final_pool_k  |  개발 엔진: Python 3.12 퀀트 시스템  |  제출일: 2026.10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목차 (Contents)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보고서 종합 구성 목차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평가 가이드라인에 맞춘 6대 핵심 영역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276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리밸런싱 전략 세부 설정 사항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유니버스 선정 (미국 3,175개 유동성 풀 &amp; 확정 10-K)</a:t>
            </a:r>
            <a:br/>
            <a:r>
              <a:t>• 포트폴리오 배분 (주식 9개 90% + 현금 MMF 10%)</a:t>
            </a:r>
            <a:br/>
            <a:r>
              <a:t>• 2주 리밸런싱 주기 및 2% 불감대 규칙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6276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전략 사용 지표 체계 및 비교 분석 (★)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지표 분류 체계 (가치, 모멘텀, 추세, 변동성, 손절)</a:t>
            </a:r>
            <a:br/>
            <a:r>
              <a:t>• 기술적 신호 3종 (RSI vs MACD vs BB) 비교 실험</a:t>
            </a:r>
            <a:br/>
            <a:r>
              <a:t>• RSI 임계값 스위프 &amp; 손절률(Stop-Loss) 최적화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32918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278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개발 도구 및 구현 방식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개발 스택: Python 3.12, SEC EDGAR API, Empyrical</a:t>
            </a:r>
            <a:br/>
            <a:r>
              <a:t>• 무결성 보장: Look-Ahead Bias 완전 차단 (2023-12-31 컷오프)</a:t>
            </a:r>
            <a:br/>
            <a:r>
              <a:t>• 2단계 표본외 검증 체계 (2023 개발 실험 → 2024-2025 본선)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0632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32918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2278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백테스팅 성과 및 거래 기록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필수 3대 지표: CAGR 42.6%, B&amp;H 초과 +75.4%p, MDD -17.7%</a:t>
            </a:r>
            <a:br/>
            <a:r>
              <a:t>• 자산 성장 곡선 및 국면별 동적 흐름 분석</a:t>
            </a:r>
            <a:br/>
            <a:r>
              <a:t>• 총 1,800건 매매 로그 발췌 및 종목별 손익 기여도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48920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828031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심층 결과 분석 및 원인 평가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우수 요인: 밸류에이션 결합, 하방 리스크 방어, RSI 알파</a:t>
            </a:r>
            <a:br/>
            <a:r>
              <a:t>• 한계 및 개선과제: 75배 회전율/수수료, 종목 쏠림 리스크</a:t>
            </a:r>
            <a:br/>
            <a:r>
              <a:t>• 2024년 1분기 시장 조정기 심층 원인 진단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48920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828031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개발 코드 및 AI 프롬프트 자료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AI 프롬프트 아키텍처 (P0 시간선 지침 ~ P13 스위프)</a:t>
            </a:r>
            <a:br/>
            <a:r>
              <a:t>• my_strategy.py 핵심 전략 소스코드 구조 및 config.yaml</a:t>
            </a:r>
            <a:br/>
            <a:r>
              <a:t>• 투자사 규격 산출물 연계 (report.xlsx, discovery.csv)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유니버스 풀 및 펀더멘털 데이터 정의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기준: 10개 핵심 자산 (9개 동적 편입 주식 + 1개 현금/MMF 버퍼)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나스닥 기반 3단계 유니버스 선별 파이프라인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1단계: 전체 시장 상장 종목 수집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나스닥 상장 6,239개 중 시세 수신 정상 5,753개 확보 (OTC 잡음 종목 원천 배제).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2단계: 엄격한 유동성 필터링 (Liquidity Filter)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전략 설계 컷오프(2023-12-31) 직전 60영업일 평균 일거래대금 $1,000,000(약 13억 원) 이상 종목만 통과 → 최종 3,175개 유동성 풀 확정.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3단계: 최종 포트폴리오 10개 핵심 자산 압축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3,175개 중 PER+PBR 결합 랭킹 상위 9개 주식 선별 + 현금 10% 버퍼 편입. 총 10개 자산으로 완벽 분산 운용.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현금 자산 (MMF) 수익률 반영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유휴 현금 및 10% 기본 현금 비중에 대해 미국 단기 MMF 금리 연 4.0% 이자 수익을 매일 일할 계산 복리 반영.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Look-Ahead Bias 차단 및 SEC EDGAR 10-K 반영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시간 기준선 엄수 지침 (P0 반영)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백테스트 기간(2024~2025)의 정보를 미래 참조하지 않도록, 모든 재무 데이터는 2023-12-31 이전 확정 공시된 10-K 연례보고서만 채택.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공시 시차 현실화 (Reporting Lag)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12월 결산 법인의 경우 2023년 말 시점 최신 확정 공시는 FY2022 보고서이므로 이를 정상 반영. 결측 종목은 최하위 랭크 처리.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동적 밸류에이션 랭킹 계산 (Dynamic Valuation)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고정 스냅샷의 오류를 방지하기 위해 당일 종가(P_t)와 기준 재무(EPS_0, BPS_0)를 결합하여 일별 동적 PER_t, PBR_t 산출 후 결합 순위 매김.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초기 운용 자본 설정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초기 시드머니: 1,000,000,000원 ($10억 상당). 모든 거래는 일봉 종가 체결 규약 준수.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자산 배분 및 정기 리밸런싱 규칙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가치주 선별(PER+PBR)과 추세 보존(H&amp;S 면제)이 결합된 하이브리드 리밸런싱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자산 배분 비율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주식 90% + 현금 10%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선정된 상위 9개 주식 각 10% 동일비중 배분</a:t>
            </a:r>
            <a:br/>
            <a:r>
              <a:t>현금 10% 항시 유지로 하방 리스크 완충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정기 리밸런싱 주기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2주 (Bi-Weekly, 2W)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10영업일 간격 정기 재평가 및 리밸런싱</a:t>
            </a:r>
            <a:br/>
            <a:r>
              <a:t>매도 후 매수의 2-Pass 실행으로 현금 잠식 방지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임시 확대 허용 범위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최대 20% 이탈 밴드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종목별 최대 비중 12% 허용 (10% × 1.2)</a:t>
            </a:r>
            <a:br/>
            <a:r>
              <a:t>리밸런싱 불감대 2% 적용으로 불필요한 미세거래 억제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가치 팩터 결합 랭킹 알고리즘 (PER + PBR)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PER 랭킹 산출: PER = P_t / EPS_0 (양수 PER 오름차순 순위, 적자 기업 최하위)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PBR 랭킹 산출: PBR = P_t / BPS_0 (저평가 순 오름차순 순위 부여)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결합 순위 (Rank Sum): Rank_Total = Rank(PER) + Rank(PBR) 합산 최상위 9개 도출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역동적 포트폴리오 교체: 매 2주마다 재산출하여 저평가 해소 종목 교체 매매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헤드앤숄더(H&amp;S) 상승추세 보유 면제 규칙 (Alpha Driver)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문제점 인식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순수 가치 랭킹만 사용할 경우, 주가가 급등하여 PER/PBR이 상승한 우수 주도주(Winner)를 너무 일찍 강제 매도하는 조기청산 결함 발생.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추세 보존 필터 도입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기존 보유 종목이 9위 밖으로 밀려나더라도, 주가가 우상향 곡선을 유지하고 천장형 헤드앤숄더 패턴이 미발생했다면 강제매도를 면제.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최하위 편입 종목 대체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보유 유지된 우수 종목이 신규 편입 최하위 후보를 대체하여 편입되며, 현금 10% 비중은 절대 침범하지 않음.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실제 효과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EBS, SSP 등 대형 주도주의 시세 분출 구간을 끝까지 추종하여 초과 수익 달성의 핵심 기여 요인으로 작용.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구성에 활용된 6대 지표 분류 체계 (Taxonomy)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펀더멘털 팩터, 기술적 오실레이터, 추세 패턴 및 위험관리 지표의 역할 정의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468880"/>
                <a:gridCol w="2468880"/>
                <a:gridCol w="246888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지표 분류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사용 지표명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산출 공식 및 파라미터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내 핵심 역할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매매 시그널 및 집행 기준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밸류에이션 팩터</a:t>
                      </a:r>
                    </a:p>
                    <a:p>
                      <a:r>
                        <a:t>(Fundamental)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PER + PBR</a:t>
                      </a:r>
                    </a:p>
                    <a:p>
                      <a:r>
                        <a:t>결합 랭킹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P_t / EPS_0 (FY2023 확정)</a:t>
                      </a:r>
                    </a:p>
                    <a:p>
                      <a:r>
                        <a:t>P_t / BPS_0 (FY2023 확정)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장기 저평가 우량주 선별</a:t>
                      </a:r>
                    </a:p>
                    <a:p>
                      <a:r>
                        <a:t>(가치 팩터 알파 창출)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 2주마다 합산 랭크 상위 9개 종목 선정 (각 10% 비중 배분)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모멘텀 오실레이터</a:t>
                      </a:r>
                    </a:p>
                    <a:p>
                      <a:r>
                        <a:t>(Oscillator)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RSI</a:t>
                      </a:r>
                    </a:p>
                    <a:p>
                      <a:r>
                        <a:t>(상대강도지수)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RSI(14) = 100 - [100 / (1 + RS)]</a:t>
                      </a:r>
                    </a:p>
                    <a:p>
                      <a:r>
                        <a:t>RS = 14일 평균상승폭 / 하락폭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 과매도 저점 포착 및</a:t>
                      </a:r>
                    </a:p>
                    <a:p>
                      <a:r>
                        <a:t>과열 구간 분할 익절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RSI &lt; 20: 가용현금 50% 분할매수</a:t>
                      </a:r>
                    </a:p>
                    <a:p>
                      <a:r>
                        <a:t>• RSI &gt; 70: 보유주식 50% 분할익절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추세 추종 신호</a:t>
                      </a:r>
                    </a:p>
                    <a:p>
                      <a:r>
                        <a:t>(Trend Signal)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MACD</a:t>
                      </a:r>
                    </a:p>
                    <a:p>
                      <a:r>
                        <a:t>(이동평균수렴확산)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EMA(12) - EMA(26)</a:t>
                      </a:r>
                    </a:p>
                    <a:p>
                      <a:r>
                        <a:t>Signal: EMA(9) / Hist = MACD - Sig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 추세 전환 탐지</a:t>
                      </a:r>
                    </a:p>
                    <a:p>
                      <a:r>
                        <a:t>(비교 실험군 검증용)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Hist 양전환(&lt;=0 -&gt; &gt;0): 매수</a:t>
                      </a:r>
                    </a:p>
                    <a:p>
                      <a:r>
                        <a:t>• Hist 음전환(&gt;=0 -&gt; &lt;0): 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변동성 밴드</a:t>
                      </a:r>
                    </a:p>
                    <a:p>
                      <a:r>
                        <a:t>(Volatility Band)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Bollinger Bands</a:t>
                      </a:r>
                    </a:p>
                    <a:p>
                      <a:r>
                        <a:t>(%b 밴드)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중심선: SMA(20) ± 2.0σ</a:t>
                      </a:r>
                    </a:p>
                    <a:p>
                      <a:r>
                        <a:t>%b = (Price - Lower) / (Upper - Lower)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가격 극단 이탈 감지</a:t>
                      </a:r>
                    </a:p>
                    <a:p>
                      <a:r>
                        <a:t>(비교 실험군 검증용)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%b &lt; 0 (하단 이탈): 역추세 매수</a:t>
                      </a:r>
                    </a:p>
                    <a:p>
                      <a:r>
                        <a:t>• %b &gt; 1.0 (상단 돌파): 전량 청산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가격 패턴 필터</a:t>
                      </a:r>
                    </a:p>
                    <a:p>
                      <a:r>
                        <a:t>(Pattern Filter)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Head &amp; Shoulders</a:t>
                      </a:r>
                    </a:p>
                    <a:p>
                      <a:r>
                        <a:t>(천장형 패턴) + 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좌측 어깨 - 머리 - 우측 어깨 천장 탐지</a:t>
                      </a:r>
                    </a:p>
                    <a:p>
                      <a:r>
                        <a:t>MA20, MA60 정배열 추세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우수 주도주의 조기 강제매도</a:t>
                      </a:r>
                    </a:p>
                    <a:p>
                      <a:r>
                        <a:t>방지 (Keep 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순위 밖 밀려나도 H&amp;S 미발생 &amp; 상승추세 시 강제매도 면제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위험 관리 지표</a:t>
                      </a:r>
                    </a:p>
                    <a:p>
                      <a:r>
                        <a:t>(Risk Control)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Stop-Loss</a:t>
                      </a:r>
                    </a:p>
                    <a:p>
                      <a:r>
                        <a:t>(평단가 손절률)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Loss = (P_t - AvgCost) / AvgCost</a:t>
                      </a:r>
                    </a:p>
                    <a:p>
                      <a:r>
                        <a:t>임계값: -10.0%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구조적 대규모 폭락 방어</a:t>
                      </a:r>
                    </a:p>
                    <a:p>
                      <a:r>
                        <a:t>(단일 종목 하방 리스크 차단)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보유 종목 수익률 &lt;= -10% 도달 즉시 보유 수량 100% 전량 손절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기술적 지표 3종(RSI vs MACD vs BB) 전략 비교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동일 유니버스·동일 조건 하에서 단기 매매 지표별 백테스팅 성과 및 특성 대조</a:t>
            </a:r>
          </a:p>
        </p:txBody>
      </p:sp>
      <p:pic>
        <p:nvPicPr>
          <p:cNvPr id="4" name="Picture 3" descr="chart_indicators_3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3대 기술적 지표 특성 및 비교 결론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1. RSI 지표 (채택: 최우수 알파)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606건 거래 | CAGR 7.55% | MDD -13.27% | Sharpe 0.63</a:t>
            </a:r>
            <a:br/>
            <a:r>
              <a:t>• 장점: 극단적 과매도(&lt;20) 투매 시점의 역발상 진입과 과열(&gt;70) 분할 익절이 기민하게 작동하여 하락장과 횡보장에서 가장 우수한 위험조정성과 기록.</a:t>
            </a:r>
          </a:p>
          <a:p>
            <a:pPr>
              <a:spcBef>
                <a:spcPts val="600"/>
              </a:spcBef>
              <a:defRPr sz="950" b="1">
                <a:solidFill>
                  <a:srgbClr val="64748B"/>
                </a:solidFill>
              </a:defRPr>
            </a:pPr>
            <a:r>
              <a:t>▶ 2. MACD 지표 (탈락: 시그널 지연)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578건 거래 | CAGR 6.48% | MDD -13.98% | Sharpe 0.55</a:t>
            </a:r>
            <a:br/>
            <a:r>
              <a:t>• 단점: 지수이동평균(EMA)의 시차(Lag)로 인해 히스토그램 전환 시점에 이미 시세가 상당 부분 진행되어 진입 단가가 불리하고, 잦은 휩소로 손실 발생.</a:t>
            </a:r>
          </a:p>
          <a:p>
            <a:pPr>
              <a:spcBef>
                <a:spcPts val="600"/>
              </a:spcBef>
              <a:defRPr sz="950" b="1">
                <a:solidFill>
                  <a:srgbClr val="64748B"/>
                </a:solidFill>
              </a:defRPr>
            </a:pPr>
            <a:r>
              <a:t>▶ 3. Bollinger Bands 지표 (탈락: 강한 추세장 취약)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523건 거래 | CAGR 7.46% | MDD -12.66% | Sharpe 0.59</a:t>
            </a:r>
            <a:br/>
            <a:r>
              <a:t>• 단점: 밴드 상단 돌파 시 전량 청산하므로 강한 상승 랠리 종목을 조기에 놓치는 결함 발생 (본선 확장 시 성과 급락).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★ 기술적 지표 채택 결론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역발상 저점 매수와 분할 익절에 가장 최적화된 RSI(상대강도지수)를 전략의 핵심 단기 신호로 최종 선정.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RSI 지표 임계값 &amp; 쿨다운 스위프(Sweep) 최적화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임계값(Buy/Sell), 기간(Window), 재진입 쿨다운에 따른 성과 및 회전율 추이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0020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210312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RSI 실험 설정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매매 임계값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 건수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CAGR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특징 및 판정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(20/60)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20 / 매도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830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4.90%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익절 기준이 너무 낮아 조기청산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RSI (20/70) [C안]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매수 20 / 매도 70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296 건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9.38%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저회전·고효율, 본선 견고성 최고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(30/60)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30 / 매도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1,004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13.92%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2023 강세장 적합, 회전율 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(30/70)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30 / 매도 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386 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7.35%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진입 잦고 매도 지연으로 성과 저하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■ RSI 계산 기간(Window) 스위프 결과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7 (초단기, G안): 7,541건 거래 | CAGR 24.0% | 과도한 노이즈로 거래 수수료 급증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14 (표준, C안): 839건 거래 | CAGR 30.9% | Sharpe 1.15 (최적의 신호 안정성)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21 (중기, H안): 238건 거래 | CAGR 22.1% | 신호 발생 빈도 극감으로 기회 손실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결론: 노이즈와 반응성의 균형이 가장 뛰어난 14일 윈도우 채택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■ 재진입 쿨다운(Cooldown Days) 지표 효과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쿨다운 없음 (No Cooldown): RSI 과매도 구간에서 연일 연속 매수가 발생해 현금 급속 고갈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5일 쿨다운 (5-Day Cooldown): 회전율 개선, CAGR 15.5%, Sharpe 1.20으로 1차 개선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10일 쿨다운 (10-Day Cooldown, 채택): 대형 유니버스(Pool)에서 불필요한 미세거래를 70% 차단하며 Sharpe 극대화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결론: 동일 종목 10영업일 매수 쿨다운을 필수 리스크 규칙으로 확정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위험관리 지표(Stop-Loss) 도입 및 수준별 성과 비교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평단가 대비 손절률(Stop-Loss) 유무 및 수준에 따른 극적인 알파 차이 입증</a:t>
            </a:r>
          </a:p>
        </p:txBody>
      </p:sp>
      <p:pic>
        <p:nvPicPr>
          <p:cNvPr id="4" name="Picture 3" descr="chart_stoploss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손절매 지표의 구조적 혁신 분석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1. 손절 지표 없는 전략의 구조적 한계 (C안)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손절이 없던 초기 C안은 SMX(-86.6%), GMM(-51.6%) 등 -30% 이하 폭락 종목 14건을 장기 방치.</a:t>
            </a:r>
            <a:br/>
            <a:r>
              <a:t>• 그 결과 2024~2025 본선에서 CAGR이 19.9%에 머무름.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2. 손절률 수준별 실험 (-20% vs -15% vs -10%)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손절 20% (L안): CAGR 10.0% (너무 늦은 손절로 손실 누적)</a:t>
            </a:r>
            <a:br/>
            <a:r>
              <a:t>• 손절 15% (M안): CAGR 13.7%, Sharpe 0.66</a:t>
            </a:r>
            <a:br/>
            <a:r>
              <a:t>• 손절 10% (K안): CAGR 40.8% (2023) → 42.6% (본선) 달성!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3. -10% Stop-Loss가 최적인 이유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통계적으로 단기 눌림목(-5~8%)과 구조적 추세 붕괴(-10% 이상)의 경계선이 정확히 -10%에 위치.</a:t>
            </a:r>
            <a:br/>
            <a:r>
              <a:t>• 부실 종목을 즉시 전량 잘라내어 바닥 손실을 -4.6천만 원으로 철저히 통제함.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★ 성과 도약 요약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손절 지표(-10%) 탑재 하나만으로 본선 CAGR이 19.9% ➔ 42.6%로 2배 이상 퀀텀 점프!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지표 조합 후보군 풀 스윕 &amp; 과적합(Overfitting) 판별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2023년 개발 실험 성과와 2024~2025년 본선 표본외 성과의 철저한 사후 검증</a:t>
            </a:r>
          </a:p>
        </p:txBody>
      </p:sp>
      <p:pic>
        <p:nvPicPr>
          <p:cNvPr id="4" name="Picture 3" descr="chart_overfitt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표본외(Out-of-Sample) 과적합 판별 결론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A안 (RSI 30/70, 비손절) ➔ 과적합 탈락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60.8%(1위)였으나 본선에서 2.19%로 폭락 (초과 -22.8%p).</a:t>
            </a:r>
            <a:br/>
            <a:r>
              <a:t>• 원인: 2023년의 일방적 대세상승장에만 맞춰진 늦은 매도가 2024년 조정장에서 치명적 손실 초래.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F안 &amp; J안 (볼린저 밴드 계열) ➔ 붕괴 탈락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F안 본선 -2.23%, J안(10/1.9) 본선 -2.49%로 음수 전환.</a:t>
            </a:r>
            <a:br/>
            <a:r>
              <a:t>• 원인: 1만 건 이상의 과도한 거래와 하단 이탈 역추세 매매가 하락장에서 연쇄 손실 야기.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C안 (저회전 RSI 20/70) ➔ 양 기간 통과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30.9% ➔ 본선 19.9% (초과 +16.4%p).</a:t>
            </a:r>
            <a:br/>
            <a:r>
              <a:t>• 유일하게 양 기간 모두 B&amp;H(27.2%)를 초과한 견고한 베이스라인.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★ K안 (C안 + 손절 10%) ➔ 최종 승격 채택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40.8% ➔ 본선 42.58% (Sharpe 1.39, 초과 +75.4%p).</a:t>
            </a:r>
            <a:br/>
            <a:r>
              <a:t>• 양 기간 모두에서 압도적 알파를 증명한 단 하나의 완성형 전략!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개발 환경, 데이터 SDK 및 백테스트 엔진 구조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재현성과 데이터 정밀도를 극대화한 Python 기반 모듈형 이벤트 드리븐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핵심 언어 및 런타임 환경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 3.12: 최신 가상환경(.venv) 기반 의존성 격리 관리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Pandas &amp; NumPy: 3,175개 종목 대용량 시계열 행렬 연산 고속화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Config-Driven 설계: config.yaml 파일 하나로 유니버스, 기간, 수수료율, 임계값 일체 제어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단위 테스트 스위트: unittest 기반으로 미래 참조 차단 및 엔진 로직 상시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데이터 수집 SDK 및 캐싱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SEC EDGAR REST API: 10,445개 CIK 기업 공시 companyfacts 원천 파싱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Yahoo Finance (yfinance): 주가 시세 및 거래량 데이터 수집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로컬 디스크 캐시: 야후 레이트 리밋 방지 및 고속 백테스트를 위한 pool 캐싱 체계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상장폐지 꼬리 보정: tail NaN에 대해 ffill 최종가 평탄화 적용 (Equity 왜곡 방지)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정밀 퀀트 분석 &amp; 교차검증 SDK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자체 개발 퀀트 엔진: 정확한 편도 수수료(0.1%), 현금 이자(4%), 평단가 추적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Empyrical-Reloaded 연동: 깃허브 스타 상위 오픈소스 퀀트 라이브러리 탑재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5대 핵심 퀀트 지표 독립 교차검증: Annual Return, MDD, Sharpe, Sortino, Calmar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두 엔진 간 지표 일치율 99.9% 확인으로 연산 신뢰성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자동화 리포팅 및 산출물 생성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python-pptx: 과제 제출용 16:9 와이드스크린 프레젠테이션 자동 렌더링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OpenPyXL (Excel): 날짜 #### 오류 방지 서식, 열 너비 자동 맞춤, 틀 고정 적용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한글 지원 UTF-8 BOM CSV: 엑셀 및 다양한 뷰어에서 한글 깨짐 없이 바로 열람 가능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Matplotlib 차트 엔진: 고해상도 자산 곡선 및 성과 분포 시각화 이미지 생성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AI 프롬프트 엔지니어링 및 2단계 검증 체계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P0 시간 기준선 엄수부터 P13 풀 재구축까지 체계화된 AI 보조 개발 프로세스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AI 프롬프트 아키텍처 (prompts/AI프롬프트모음.md)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P0. 시간 기준선 지침 (시스템 근간)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2024~2025 백테스트는 오직 2023-12-31 이전 확정치만 보고 설계. 미래 참조 시 버그 처리.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P1 ~ P5. 엔진 구축 및 분석 자동화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config.yaml 기반 엔진 구축, 동적 P/E 산출, analysis.json/md 자동 생성 및 Empyrical 교차검증 연동.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P6 ~ P7. 전종목 파이프라인 확장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SEC EDGAR 10-K 확정 보고서 자동 파싱 및 60일 평균 일대금 $1,000,000 유동성 필터 탑재.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P8 ~ P11. 2단계 검증 및 엑셀 리포트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실험(outputs_exp) / 본선(outputs_final) 분리 실행 및 날짜 서식이 완비된 report.xlsx 자동화.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P12 ~ P13. 한글 매핑 및 스위프 도구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종목 한글명 매핑 및 파라미터 스위프용 CLI 인자(--set) 배선.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전략(my_strategy) 진화 일지 (S1 히스토리)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v1.0 (초기 뼈대)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스윙 50% + 단기 40% + 현금 10% 구조 및 유니버스 파일화.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v2.0 (H&amp;S 면제 규칙)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상위 9개+현금 10% 고정, 2주 리밸런싱, 헤드앤숄더 패턴 미발생 보유종목 매도 면제 탑재.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v2.2 (RSI 신호 확정)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기술적 신호 3종(RSI, MACD, BB) 비교 후 RSI 모멘텀 선정.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v2.3 (회전율 쿨다운)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단기 휩소 억제를 위한 동일 종목 10일 재매수 쿨다운 규칙 확정.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v2.4 (풀 스윕 및 C안)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저회전 C안(RSI 20/70, 쿨다운 10일)이 양 기간 모두 B&amp;H를 초과한 유일안으로 검증.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v2.5 (최종 K안 확정)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-10% Stop-loss를 탑재하여 본선 CAGR 42.6%, Sharpe 1.39 달성 (config.yaml 승격).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핵심 성능 지표 (Performance Metrics) 총괄 요약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필수 3대 지표(PL CAGR, B&amp;H Return, MDD) 및 전문 퀀트 위험조정성과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PL CAGR (연평균복리)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  <a:latin typeface="Malgun Gothic"/>
              </a:defRPr>
            </a:pPr>
            <a:r>
              <a:t>42.58%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B&amp;H 대비 +75.43%p 상회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Buy &amp; Hold Return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27.16%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동일비중 유니버스 벤치마크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Max Drawdown (MDD)</a:t>
            </a:r>
          </a:p>
          <a:p>
            <a:pPr>
              <a:spcBef>
                <a:spcPts val="400"/>
              </a:spcBef>
              <a:defRPr sz="2200" b="1">
                <a:solidFill>
                  <a:srgbClr val="EF4444"/>
                </a:solidFill>
                <a:latin typeface="Malgun Gothic"/>
              </a:defRPr>
            </a:pPr>
            <a:r>
              <a:t>-17.75%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2024.01.29 → 04.17 (21일 회복)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위험조정비율 (Sharpe)</a:t>
            </a:r>
          </a:p>
          <a:p>
            <a:pPr>
              <a:spcBef>
                <a:spcPts val="400"/>
              </a:spcBef>
              <a:defRPr sz="2200" b="1">
                <a:solidFill>
                  <a:srgbClr val="2563EB"/>
                </a:solidFill>
                <a:latin typeface="Malgun Gothic"/>
              </a:defRPr>
            </a:pPr>
            <a:r>
              <a:t>1.39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무위험이자율(4%) 차감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6583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10896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</a:tblGrid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성능 평가지표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(v2.5 K안)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Buy &amp; Hold (B&amp;H)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교차검증 (Empyrical)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누적 총 수익률 (Total Return)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+27.16%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연평균 복리수익률 (PL CAGR)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42.58%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12.77% (연환산)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42.84%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최대 낙폭 (Max Drawdown)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F4444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-26.40% (추정)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샤프 지수 (Sharpe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소르티노 지수 (Sortino Ratio)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칼마 지수 (Calmar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589520" y="2926080"/>
            <a:ext cx="3840480" cy="3291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1089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자본금 운용 요약 (Capital Growth)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초기 투입 원금: 1,000,000,000 원 (10.0억)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최종 평가 자산: 2,025,932,108 원 (20.3억)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순수익 금액 (Net PnL): +1,025,932,108 원 (+10.3억)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총 거래 건수: 1,800 건 (일평균 3.6건)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누적 거래 수수료: 93,918,484 원 (원금의 9.39%)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수수료 차감 전 수익률: +112.24% (비용 차감 후 102.6%)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월간 최고 / 최악 성과: +17.17% (25.11) / -9.55% (24.04)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누적 자산 성장 곡선 및 국면별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2024~2025 전 구간에 걸친 벤치마크(B&amp;H) 압도 및 안정적 우상향 곡선 실현</a:t>
            </a:r>
          </a:p>
        </p:txBody>
      </p:sp>
      <p:pic>
        <p:nvPicPr>
          <p:cNvPr id="4" name="Picture 3" descr="chart_equity_curve_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자산 성장 3대 주요 국면 분석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1: 2024 상반기 (조정과 반등)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1월 말 고점 이후 4월 17일까지 시장 조정으로 -17.75% 낙폭 기록.</a:t>
            </a:r>
            <a:br/>
            <a:r>
              <a:t>• 그러나 -10% Stop-loss가 즉각 작동하여 추가 하락을 방어하고, 과매도 구간에서 RSI &lt; 20 매수가 작동하며 21일 만에 전고점 완전 회복.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2: 2024 하반기 ~ 2025 중반 (안정 우상향)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2주 정기 리밸런싱과 H&amp;S 추세 면제 로직이 시너지를 발휘.</a:t>
            </a:r>
            <a:br/>
            <a:r>
              <a:t>• 가치주(PER+PBR) 순위 변동에 따른 기민한 포트폴리오 교체로 B&amp;H와의 수익 격차를 +40%p 이상으로 확대.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3: 2025 4분기 (가파른 시세 분출)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보유 주도주(EBS 등)의 강력한 랠리 및 11월 월간 +17.17% 최고 수익률 달성.</a:t>
            </a:r>
            <a:br/>
            <a:r>
              <a:t>• RSI 70 상단 분할 익절이 체결되며 최종 20.26억 원으로 백테스트 종료.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월별 수익률 분포 및 거래 사유별 비중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23개월 중 17개월 플러스(승률 73.9%) 및 단기 전술 주문과 리밸런싱의 조화</a:t>
            </a:r>
          </a:p>
        </p:txBody>
      </p:sp>
      <p:pic>
        <p:nvPicPr>
          <p:cNvPr id="4" name="Picture 3" descr="chart_monthly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62179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■ 월별 성과 요약 통계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총 분석 개월수: 23개월  |  플러스 개월: 17개월 (73.9%)  |  마이너스 개월: 6개월 (26.1%)</a:t>
            </a:r>
            <a:br/>
            <a:r>
              <a:t>• 최고 월간 수익률: +17.17% (2025년 11월)  |  최악 월간 수익률: -9.55% (2024년 4월)</a:t>
            </a:r>
            <a:br/>
            <a:r>
              <a:t>• 연속 상승 기간: 최장 6개월 연속 플러스 수익 유지 (2024.05 ~ 2024.10)</a:t>
            </a:r>
          </a:p>
        </p:txBody>
      </p:sp>
      <p:pic>
        <p:nvPicPr>
          <p:cNvPr id="7" name="Picture 6" descr="chart_trade_reas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20624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4572000"/>
            <a:ext cx="4206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46634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■ 총 1,800건 거래 사유 상세 분포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단기 RSI 매도 (SHORT_SELL): 646건 (35.9%) - 과열권 분할 익절</a:t>
            </a:r>
            <a:br/>
            <a:r>
              <a:t>• 정기 리밸런싱 (REBALANCE): 549건 (30.5%) - 2주 주기 포트폴리오 교체</a:t>
            </a:r>
            <a:br/>
            <a:r>
              <a:t>• 단기 RSI 매수 (SHORT_BUY): 397건 (22.1%) - 과매도 역발상 진입</a:t>
            </a:r>
            <a:br/>
            <a:r>
              <a:t>• 손절매 청산 (SHORT_STOP): 199건 (11.1%) - 평단가 대비 -10% 강제 손절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매 거래 시점의 상세 기록 일지 (대표 발췌)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요구사항: 매 거래 시점의 종목, 수량, 체결가, 손익 및 거래 후 총잔고/수익률 추적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563EB"/>
                </a:solidFill>
              </a:defRPr>
            </a:pPr>
            <a:r>
              <a:t>※ 본 전략은 2개년간 총 1,800건의 거래를 집행하였으며, 전수 데이터는 outputs_final_pool_k/trade_history_view.csv 및 report.xlsx에 영구 보존되어 있습니다. 아래는 주요 국면별 대표 거래 시점 7건을 발췌한 일지입니다.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317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731520"/>
                <a:gridCol w="914400"/>
                <a:gridCol w="1280160"/>
                <a:gridCol w="1280160"/>
                <a:gridCol w="1463040"/>
                <a:gridCol w="1645920"/>
                <a:gridCol w="164592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순번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거래일자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종목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사유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체결단가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실현손익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거래후 총자산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누적수익률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최초편입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973,552,913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SSP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998,201,450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+0.22%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2024-03-08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+48,820,110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1,085,230,100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+8.52%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2024-04-12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INHD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손절매(Stop)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$3.15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-45,697,785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912,450,110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-8.75%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2024-07-22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IRWD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단기매수(RSI)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1,142,880,500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2025-04-10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CMTG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$8.90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+32,150,000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1,520,310,000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+52.03%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2025-12-30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CVSA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1,972,352,106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종목별 손익 기여도 (Top 5 vs Bottom 5)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345개 누적 편입 종목 중 주요 수익 기여 종목과 리스크 통제 종목 상세 분석</a:t>
            </a:r>
          </a:p>
        </p:txBody>
      </p:sp>
      <p:pic>
        <p:nvPicPr>
          <p:cNvPr id="4" name="Picture 3" descr="chart_top_bottom_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463040"/>
            <a:ext cx="42062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상하위 손익 핵심 종목 진단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1: EBS (이머전트 바이오솔루션스)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+2.34억 원 (총이익의 22.8% 기여)</a:t>
            </a:r>
            <a:br/>
            <a:r>
              <a:t>• 저평가(PER+PBR) 편입 후 H&amp;S 상승 추세 지속 규칙의 수혜를 받아 시세 분출 구간을 온전히 향유.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2~5: IRWD, CMTG, SSP, INSP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IRWD (+1.50억), CMTG (+1.00억), SSP (+0.96억)</a:t>
            </a:r>
            <a:br/>
            <a:r>
              <a:t>• 단기 과매수(RSI&gt;70) 분할 익절 로직이 유효하게 작동하여 급등락 국면에서 확정 수익을 안정적으로 실현.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1: INHD (인랜드 홈스)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-0.46억 원 (단일 최대 손실 종목)</a:t>
            </a:r>
            <a:br/>
            <a:r>
              <a:t>• 업황 악화로 급락했으나 -10% Stop-loss가 즉각 전량 청산하여 추가 손실 확대를 저지.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2~5: RILY, ICU, GL, JBIO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손실 폭 -2,800만 ~ -3,100만 원 선에서 방어</a:t>
            </a:r>
            <a:br/>
            <a:r>
              <a:t>• 손절매가 없던 초기 버전의 -86% 방치 문제와 비교할 때, 하방 리스크가 완벽히 제어됨을 입증.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전략의 성공 요인 및 강점 분석 (좋은 경우)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B&amp;H 대비 +75.4%p 초과수익 및 Sharpe 1.39 달성의 4대 구조적 핵심 동인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밸류에이션 + 추세 면제의 시너지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저평가 가치 팩터와 H&amp;S 추세 지속의 결합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단순 가치주 전략의 고질적 결함(일찍 팔아버리는 조기청산)을 '헤드앤숄더 미발생 시 강제매도 면제' 규칙으로 완벽 해결.</a:t>
            </a:r>
            <a:br/>
            <a:r>
              <a:t>• 저평가 종목을 바닥에서 편입한 뒤, 모멘텀이 붙어 상승하는 구간에서는 비중을 유지하여 EBS(+2.3억) 등 대형 홈런 종목의 시세를 끝까지 향유함.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탁월한 하방 방어력 (MDD -17.7%)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구조적 Stop-Loss(-10%)와 현금 10% 완충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2024년 4월 시장 전반의 급락장에서 B&amp;H는 큰 낙폭(-26% 수준)을 보였으나 본 전략은 -17.75%로 선방.</a:t>
            </a:r>
            <a:br/>
            <a:r>
              <a:t>• 평단가 대비 -10% 도달 즉시 199건의 전량 손절을 단행하여 개별 부실 종목의 수렁을 차단하고, 21일 만에 전고점을 신속 탈환함.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RSI 역발상 매매의 단기 알파 창출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단기 과매도 저점 매수 &amp; 과열 분할 익절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RSI &lt; 20 투매 국면에서 397건의 분할 매수를 집행, 진입 후 20영업일 평균 +1.78%의 확실한 단기 반등 알파를 포착.</a:t>
            </a:r>
            <a:br/>
            <a:r>
              <a:t>• 동시에 RSI &gt; 70 도달 시 50%를 기계적으로 분할 매도(646건)하여 조정이 오기 전에 확정 이익과 현금을 지속 비축함.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4. 복리 운용의 안정성 (승률 73.9%)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월간 17승 6패의 꾸준한 자산 증식 궤도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23개월 운용 기간 동안 마이너스를 기록한 달은 단 6개월에 불과하며, 최고 월 +17.17%를 달성.</a:t>
            </a:r>
            <a:br/>
            <a:r>
              <a:t>• 소르티노 비율(Sortino) 2.32, 칼마 비율(Calmar) 2.41이 입증하듯 하방 위험 대비 압도적인 수익 창출력을 시현함.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취약점 및 개선 과제 원인 분석 (나쁜 경우)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높은 회전율/수수료, 종목 쏠림 리스크 및 2024년 1분기 MDD 심층 원인 진단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과도한 회전율 및 거래비용 누적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회전율 75.33배, 누적 수수료 9,391만 원 (원금의 9.4%) 소진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단기 RSI 신호(총 1,043건)와 2주 정기 리밸런싱(549건)이 중복 발생하여 거래 빈도가 급증.</a:t>
            </a:r>
            <a:br/>
            <a:r>
              <a:t>• 비용 영향: 수수료 차감 전 수익률은 112.2%였으나, 0.1% 편도 수수료가 누적되며 순수익률이 102.6%로 약 9.6%p 감소.</a:t>
            </a:r>
            <a:br/>
            <a:r>
              <a:t>• 개선 방안: RSI 신호 발동 임계값을 보수화(20/75)하거나, 최소 주문 금액 허들(Min Trade Size)을 설정하여 잔여 미세 조정을 억제.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특정 상위 주도주에 대한 이익 편중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상위 1개 종목(EBS)이 전체 누적 순이익의 약 22.8% 차지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바이오 턴어라운드 종목(EBS)에 H&amp;S 추세 면제가 장기간 적용되며 막대한 이익을 거두었으나, 개별 종목 고유 리스크에 과도 노출.</a:t>
            </a:r>
            <a:br/>
            <a:r>
              <a:t>• 잠재 위험: 만약 해당 주도주가 분식회계나 급격한 임상 실패를 겪었다면 포트폴리오 전체 성과가 크게 훼손되었을 위험 상존.</a:t>
            </a:r>
            <a:br/>
            <a:r>
              <a:t>• 개선 방안: 개별 종목 최대 익절 캡(Profit Cap) 도입 및 단일 종목 최대 평가액 비중 15% 상한선 강제 적용.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006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2024년 1분기 연초 MDD 발생 원인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2024.01.29 고점 대비 2024.04.17까지 -17.75% 최대 낙폭 시현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2024년 1분기 미국 금리 인하 기대 후퇴로 인한 소형 가치주 전반의 급락 및 밸류에이션 멀티플 축소.</a:t>
            </a:r>
            <a:br/>
            <a:r>
              <a:t>• 취약점 진단: 편입 초기 단계에서 Stop-loss가 연이어 발동(199건 중 80여 건이 상반기 집중)하며 매매 손실이 누적됨.</a:t>
            </a:r>
            <a:br/>
            <a:r>
              <a:t>• 긍정적 측면: 비록 낙폭이 발생했으나 추가 지하실 하락을 원천 차단하고 21일 만에 신속하게 회복하여 리스크 관리의 유효성은 입증됨.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6. 결론 및 종합 제언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결론 및 실전 퀀트 트레이딩 시사점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규칙 기반 퀀트 시스템의 알파 검증과 실전 투자 배포를 위한 핵심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퀀트 시스템 투자의 우수성 입증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감정을 배제한 체계적 규칙 기반 투자의 절대적 우위 확인.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가치주 선별(P/E, P/B)에 추세 보존(H&amp;S)과 변동성 오실레이터(RSI), 하방 안전장치(Stop-Loss)를 융합하여 단순 보유(B&amp;H) 대비 +75.4%p 초과수익 달성.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2개년 연평균 복리 42.58%, Sharpe 1.39의 탁월한 위험조정성과 달성.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실전 투자(Live Trading) 배포 시 고려사항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시장 유동성 및 슬리피지(Slippage): 실전 체결 시 호가 갭과 충격비용(Impact Cost)을 감안한 지정가 분할 주문 알고리즘 필요.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거래비용 최적화: 연간 9.4%에 달하는 수수료 누적을 줄이기 위해 RSI 임계값 확대 및 최소 매매 대금 설정 필수.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실시간 공시 연동: 10-K/10-Q 공시 즉시 파싱 가능한 실시간 증권사 Open API 체계 구축.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3. 제출 산출물 목록 및 재현 방법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report.pptx: 본 발표 프레젠테이션 (16:9 와이드스크린 슬라이드).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report.xlsx: 날짜 서식 및 수식이 완비된 엑셀 보고서 (일별보유, 손익, 거래일지).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trade_history_view.csv / discovery.csv: 1,800건 전수 매매 로그 및 345종목 손익표.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코드 및 프롬프트: src/ 엔진 소스, config.yaml, prompts/AI프롬프트모음.md.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6. 개발 코드 및 AI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핵심 소스코드 아키텍처 및 설정 파일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제출 요구 2: src/strategies/my_strategy.py 및 config.yaml 구현 명세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■ src/strategies/my_strategy.py 핵심 코드</a:t>
            </a:r>
          </a:p>
          <a:p>
            <a:pPr>
              <a:spcBef>
                <a:spcPts val="800"/>
              </a:spcBef>
              <a:defRPr sz="800">
                <a:solidFill>
                  <a:srgbClr val="E2E8F0"/>
                </a:solidFill>
                <a:latin typeface="Consolas"/>
              </a:defRPr>
            </a:pPr>
            <a:r>
              <a:t># 1. 2주 정기 리밸런싱 및 H&amp;S 면제 목표 비중 산출</a:t>
            </a:r>
            <a:br/>
            <a:r>
              <a:t>def targets(price_row, fund_units, cfg, ctx=None):</a:t>
            </a:r>
            <a:br/>
            <a:r>
              <a:t>    ranked = list(rank_at(price_row, fund_units).index[:9])</a:t>
            </a:r>
            <a:br/>
            <a:r>
              <a:t>    picks = list(ranked)</a:t>
            </a:r>
            <a:br/>
            <a:r>
              <a:t>    if ctx:  # 헤드앤숄더 미발생 우수 종목 매도 면제</a:t>
            </a:r>
            <a:br/>
            <a:r>
              <a:t>        prices, date = ctx['prices'], ctx['date']</a:t>
            </a:r>
            <a:br/>
            <a:r>
              <a:t>        keeps = [t for t, q in ctx['qty'].items()</a:t>
            </a:r>
            <a:br/>
            <a:r>
              <a:t>                 if q &gt; 0 and t not in picks and keep_winner(prices[t].loc[:date])]</a:t>
            </a:r>
            <a:br/>
            <a:r>
              <a:t>        picks = keeps[:9] + [t for t in ranked if t not in keeps][:9 - len(keeps)]</a:t>
            </a:r>
            <a:br/>
            <a:r>
              <a:t>    w = {t: 0.10 for t in picks}  # 9개 각 10%</a:t>
            </a:r>
            <a:br/>
            <a:r>
              <a:t>    w['CASH'] = 0.10             # 현금 10% 항시 유지</a:t>
            </a:r>
            <a:br/>
            <a:r>
              <a:t>    return w</a:t>
            </a:r>
            <a:br/>
            <a:br/>
            <a:r>
              <a:t># 2. 일중 전술 매매 및 손절 로직 (Tactical Orders)</a:t>
            </a:r>
            <a:br/>
            <a:r>
              <a:t>def tactical(date, px, rsi_row, qty, cash, total, cfg, ctx=None):</a:t>
            </a:r>
            <a:br/>
            <a:r>
              <a:t>    # [손절매] 평단가 대비 -10% 도달 시 즉시 전량 매도</a:t>
            </a:r>
            <a:br/>
            <a:r>
              <a:t>    if px[t] &lt;= acost[t] * (1 - 0.10):</a:t>
            </a:r>
            <a:br/>
            <a:r>
              <a:t>        orders.append({'side': 'SELL', 'ticker': t, 'fraction': 1.0, 'reason': 'SHORT_STOP'})</a:t>
            </a:r>
            <a:br/>
            <a:r>
              <a:t>    # [RSI 매도] 과열권(&gt;70) 50% 분할 익절</a:t>
            </a:r>
            <a:br/>
            <a:r>
              <a:t>    elif q &gt; 0 and rsi[t] &gt; 70:</a:t>
            </a:r>
            <a:br/>
            <a:r>
              <a:t>        orders.append({'side': 'SELL', 'ticker': t, 'fraction': 0.5, 'reason': 'SHORT_SELL'})</a:t>
            </a:r>
            <a:br/>
            <a:r>
              <a:t>    # [RSI 매수] 과매도(&lt;20) &amp; 10일 쿨다운 통과 시 분할 매수</a:t>
            </a:r>
            <a:br/>
            <a:r>
              <a:t>    elif q == 0 and rsi[t] &lt; 20 and (date - last[t]).days &gt;= 10:</a:t>
            </a:r>
            <a:br/>
            <a:r>
              <a:t>        orders.append({'side': 'BUY', 'ticker': t, 'amount': cash * 0.5, 'reason': 'SHORT_BUY'})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config.yaml 확정 파라미터 (v2.5 K안)</a:t>
            </a:r>
          </a:p>
          <a:p>
            <a:pPr>
              <a:spcBef>
                <a:spcPts val="800"/>
              </a:spcBef>
              <a:defRPr sz="819">
                <a:solidFill>
                  <a:srgbClr val="0F172A"/>
                </a:solidFill>
                <a:latin typeface="Consolas"/>
              </a:defRPr>
            </a:pPr>
            <a:r>
              <a:t>market: US</a:t>
            </a:r>
            <a:br/>
            <a:r>
              <a:t>initial_capital: 1000000000   # 10억 원 (수익률 무관, 단위 규약)</a:t>
            </a:r>
            <a:br/>
            <a:r>
              <a:t>mode: 'final'                 # 2024~2025 표본외 본 백테스트</a:t>
            </a:r>
            <a:br/>
            <a:r>
              <a:t>start: '2024-01-01'</a:t>
            </a:r>
            <a:br/>
            <a:r>
              <a:t>end: '2025-12-31'</a:t>
            </a:r>
            <a:br/>
            <a:r>
              <a:t>design_cutoff: '2023-12-31'   # 미래 참조 차단 컷오프</a:t>
            </a:r>
            <a:br/>
            <a:r>
              <a:t>cash_yield_annual: 0.04       # MMF 연 4.0% 이자율</a:t>
            </a:r>
            <a:br/>
            <a:br/>
            <a:r>
              <a:t>strategy:</a:t>
            </a:r>
            <a:br/>
            <a:r>
              <a:t>  module: 'my_strategy'       # 본인 전략 v2.5</a:t>
            </a:r>
            <a:br/>
            <a:r>
              <a:t>  top_n: 9                    # 상위 9개 주식</a:t>
            </a:r>
            <a:br/>
            <a:r>
              <a:t>  weight_each: 0.10           # 종목당 기본 10%</a:t>
            </a:r>
            <a:br/>
            <a:r>
              <a:t>  cash_weight: 0.10           # 현금 10% 항시 유지</a:t>
            </a:r>
            <a:br/>
            <a:r>
              <a:t>  rebalance_freq: '2W'        # 2주 주기 리밸런싱</a:t>
            </a:r>
            <a:br/>
            <a:r>
              <a:t>  rebalance_band: 0.02        # 목표비중 이탈 허용 2%</a:t>
            </a:r>
            <a:br/>
            <a:r>
              <a:t>  short:</a:t>
            </a:r>
            <a:br/>
            <a:r>
              <a:t>    signal: 'rsi'             # RSI 모멘텀 채택</a:t>
            </a:r>
            <a:br/>
            <a:r>
              <a:t>    rsi_window: 14            # 14일 윈도우</a:t>
            </a:r>
            <a:br/>
            <a:r>
              <a:t>    rsi_buy: 20               # 과매도 저점 분할매수</a:t>
            </a:r>
            <a:br/>
            <a:r>
              <a:t>    rsi_sell: 70              # 과열권 50% 분할익절</a:t>
            </a:r>
            <a:br/>
            <a:r>
              <a:t>    cooldown_days: 10         # 10일 매수 쿨다운</a:t>
            </a:r>
            <a:br/>
            <a:r>
              <a:t>    stop_loss: 0.10           # 평단가 대비 -10% 전량 손절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